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425" r:id="rId3"/>
    <p:sldId id="426" r:id="rId4"/>
    <p:sldId id="435" r:id="rId5"/>
    <p:sldId id="436" r:id="rId6"/>
    <p:sldId id="407" r:id="rId7"/>
    <p:sldId id="428" r:id="rId8"/>
    <p:sldId id="434" r:id="rId9"/>
    <p:sldId id="415" r:id="rId10"/>
    <p:sldId id="427" r:id="rId11"/>
  </p:sldIdLst>
  <p:sldSz cx="18288000" cy="10287000"/>
  <p:notesSz cx="6858000" cy="9144000"/>
  <p:embeddedFontLst>
    <p:embeddedFont>
      <p:font typeface="Consolas" panose="020B0609020204030204" pitchFamily="49" charset="0"/>
      <p:regular r:id="rId13"/>
      <p:bold r:id="rId14"/>
      <p:italic r:id="rId15"/>
      <p:boldItalic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7684158-E8C8-9BE0-21EB-718D906F94A5}" name="George Mount" initials="GM" userId="S::george@stringfestanalytics.com::22d0b802-afc6-4b8f-ba57-7a855d96927f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eorge Mount" initials="GM" lastIdx="9" clrIdx="0">
    <p:extLst>
      <p:ext uri="{19B8F6BF-5375-455C-9EA6-DF929625EA0E}">
        <p15:presenceInfo xmlns:p15="http://schemas.microsoft.com/office/powerpoint/2012/main" userId="57d2ab2a84d54c8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3338"/>
    <a:srgbClr val="3D39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92" autoAdjust="0"/>
    <p:restoredTop sz="78463" autoAdjust="0"/>
  </p:normalViewPr>
  <p:slideViewPr>
    <p:cSldViewPr>
      <p:cViewPr varScale="1">
        <p:scale>
          <a:sx n="31" d="100"/>
          <a:sy n="31" d="100"/>
        </p:scale>
        <p:origin x="75" y="62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40" d="100"/>
        <a:sy n="14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A98A70-FA8C-4354-959C-C70678AC9BCF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B500C5-13F7-48FC-8160-C29AECF6C6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350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5492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3298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D5532-326F-4669-1CB2-DA7AFD783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F669E7-8D85-DEB6-7D4D-FA8E8268D1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F375F-294F-03AB-52EE-36A85AF9FC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7E0FB-DBB2-3D20-1323-ADC2F3DB14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5058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9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42796" y="4850092"/>
            <a:ext cx="4745204" cy="543581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00" y="-3440159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The New AI + Excel Modeling Stack: What Financial Modelers Need to Know</a:t>
            </a:r>
          </a:p>
        </p:txBody>
      </p:sp>
      <p:sp>
        <p:nvSpPr>
          <p:cNvPr id="2" name="AutoShape 2" descr="Home | Full Stack Modeller">
            <a:extLst>
              <a:ext uri="{FF2B5EF4-FFF2-40B4-BE49-F238E27FC236}">
                <a16:creationId xmlns:a16="http://schemas.microsoft.com/office/drawing/2014/main" id="{6CCAA77C-4E76-640C-066C-F3E39EE1AC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3" name="Picture 2" descr="Financial Modeling Certification | Financial Modeling Institute">
            <a:extLst>
              <a:ext uri="{FF2B5EF4-FFF2-40B4-BE49-F238E27FC236}">
                <a16:creationId xmlns:a16="http://schemas.microsoft.com/office/drawing/2014/main" id="{72EA68FA-08B3-420A-F901-011898D55C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5295900"/>
            <a:ext cx="6118033" cy="453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591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sp>
        <p:nvSpPr>
          <p:cNvPr id="5" name="TextBox 4"/>
          <p:cNvSpPr txBox="1"/>
          <p:nvPr/>
        </p:nvSpPr>
        <p:spPr>
          <a:xfrm>
            <a:off x="781292" y="590309"/>
            <a:ext cx="15486926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900" b="1" dirty="0">
                <a:solidFill>
                  <a:schemeClr val="bg1"/>
                </a:solidFill>
                <a:latin typeface="Normafixed Tryout" panose="00000409000000000000" pitchFamily="49" charset="0"/>
              </a:rPr>
              <a:t>About me</a:t>
            </a:r>
          </a:p>
        </p:txBody>
      </p:sp>
      <p:pic>
        <p:nvPicPr>
          <p:cNvPr id="3" name="Picture 4" descr="Advancing into Analytics Cover Image">
            <a:extLst>
              <a:ext uri="{FF2B5EF4-FFF2-40B4-BE49-F238E27FC236}">
                <a16:creationId xmlns:a16="http://schemas.microsoft.com/office/drawing/2014/main" id="{588F684B-18EF-D76C-5F7B-15E4BAD606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38675" y="195638"/>
            <a:ext cx="3130385" cy="4088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Free photos of Cleveland">
            <a:extLst>
              <a:ext uri="{FF2B5EF4-FFF2-40B4-BE49-F238E27FC236}">
                <a16:creationId xmlns:a16="http://schemas.microsoft.com/office/drawing/2014/main" id="{CBA53EEE-E3E1-D99E-A4DC-1C4DD2E6CE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5692" y="2968810"/>
            <a:ext cx="5535359" cy="3684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97E0F267-87DF-961E-1FAA-47FD4F27A5C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3691" y="6002696"/>
            <a:ext cx="7448309" cy="5462681"/>
          </a:xfrm>
          <a:prstGeom prst="rect">
            <a:avLst/>
          </a:prstGeom>
        </p:spPr>
      </p:pic>
      <p:pic>
        <p:nvPicPr>
          <p:cNvPr id="1026" name="Picture 2" descr="Modern data analytics in Excel book cover">
            <a:extLst>
              <a:ext uri="{FF2B5EF4-FFF2-40B4-BE49-F238E27FC236}">
                <a16:creationId xmlns:a16="http://schemas.microsoft.com/office/drawing/2014/main" id="{874ADA5E-A7A7-1D02-C728-513187DE1E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8829" y="1736915"/>
            <a:ext cx="3437261" cy="4507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icrosoft Most Valuable Professional - Wikipedia">
            <a:extLst>
              <a:ext uri="{FF2B5EF4-FFF2-40B4-BE49-F238E27FC236}">
                <a16:creationId xmlns:a16="http://schemas.microsoft.com/office/drawing/2014/main" id="{36C71929-5967-B93D-05FE-E330D621C5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642" y="7832951"/>
            <a:ext cx="5057775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Global Excel Summit (9-11 February 2022) - Microsoft Excel Conference">
            <a:extLst>
              <a:ext uri="{FF2B5EF4-FFF2-40B4-BE49-F238E27FC236}">
                <a16:creationId xmlns:a16="http://schemas.microsoft.com/office/drawing/2014/main" id="{A4A37758-F92B-49D0-9144-77DE1A40AF2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397664" y="4795613"/>
            <a:ext cx="2901909" cy="2901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9011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520861" y="170082"/>
            <a:ext cx="1197979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Objectives for this session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0861" y="3191948"/>
            <a:ext cx="1439312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Clean and prep data the modern, reliable way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Run forecasting and simulations in Python in Excel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Use Copilot for fast, defensible analysis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Understand where Scripts, Automate, and Agents actually fit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Build a practical modeling workflow you can use tomorrow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29761B90-A7DE-4A60-A915-F085BD87CA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0763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2A2F7-CEB0-4209-DC3D-F249E9777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AB21DD4-1E71-0731-A2B8-76CDA8683D46}"/>
              </a:ext>
            </a:extLst>
          </p:cNvPr>
          <p:cNvSpPr txBox="1"/>
          <p:nvPr/>
        </p:nvSpPr>
        <p:spPr>
          <a:xfrm>
            <a:off x="520861" y="170082"/>
            <a:ext cx="119797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The AI sweet spot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367A43BF-28D5-E587-7263-F5E78BC8BD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  <p:sp>
        <p:nvSpPr>
          <p:cNvPr id="2" name="Arrow: Left-Right 1">
            <a:extLst>
              <a:ext uri="{FF2B5EF4-FFF2-40B4-BE49-F238E27FC236}">
                <a16:creationId xmlns:a16="http://schemas.microsoft.com/office/drawing/2014/main" id="{B25DAC54-5829-C2EE-04C9-18CD81CE9096}"/>
              </a:ext>
            </a:extLst>
          </p:cNvPr>
          <p:cNvSpPr/>
          <p:nvPr/>
        </p:nvSpPr>
        <p:spPr>
          <a:xfrm>
            <a:off x="1143000" y="3695700"/>
            <a:ext cx="15392400" cy="3733800"/>
          </a:xfrm>
          <a:prstGeom prst="leftRightArrow">
            <a:avLst/>
          </a:prstGeom>
          <a:solidFill>
            <a:srgbClr val="CF3338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F9E5D4-9FF2-2C0F-5B3F-7B2E307FA5D0}"/>
              </a:ext>
            </a:extLst>
          </p:cNvPr>
          <p:cNvSpPr/>
          <p:nvPr/>
        </p:nvSpPr>
        <p:spPr>
          <a:xfrm>
            <a:off x="6629400" y="4648200"/>
            <a:ext cx="3962400" cy="18288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/>
              <a:t>AI is just another tool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AC6237-2E9E-5783-FD0D-BC4939235463}"/>
              </a:ext>
            </a:extLst>
          </p:cNvPr>
          <p:cNvSpPr txBox="1"/>
          <p:nvPr/>
        </p:nvSpPr>
        <p:spPr>
          <a:xfrm>
            <a:off x="2667000" y="4991100"/>
            <a:ext cx="3657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solidFill>
                  <a:schemeClr val="bg1"/>
                </a:solidFill>
              </a:rPr>
              <a:t>AI is useless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16B48F-B4DE-EC2C-3E01-3DAE4467291D}"/>
              </a:ext>
            </a:extLst>
          </p:cNvPr>
          <p:cNvSpPr txBox="1"/>
          <p:nvPr/>
        </p:nvSpPr>
        <p:spPr>
          <a:xfrm>
            <a:off x="11125200" y="4839325"/>
            <a:ext cx="36576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solidFill>
                  <a:schemeClr val="bg1"/>
                </a:solidFill>
              </a:rPr>
              <a:t>AI will take my job</a:t>
            </a:r>
          </a:p>
        </p:txBody>
      </p:sp>
    </p:spTree>
    <p:extLst>
      <p:ext uri="{BB962C8B-B14F-4D97-AF65-F5344CB8AC3E}">
        <p14:creationId xmlns:p14="http://schemas.microsoft.com/office/powerpoint/2010/main" val="35234289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DDAFB-C39F-E1F1-239C-CC130F0E9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3F99B048-238E-884E-F9CC-BE10034697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83C5240-267F-C074-4137-482F2BB3C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800" y="533400"/>
            <a:ext cx="9220200" cy="922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4951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0431" y="329879"/>
            <a:ext cx="8906720" cy="70758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Auditable data cleaning with Power Query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Copilot to profile for dirty data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Build the reproducible pipeline with Power Query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Improve the documentation with Copilot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Worksheet: </a:t>
            </a:r>
            <a:r>
              <a:rPr lang="en-US" sz="3600" dirty="0" err="1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EquitySnapshot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871531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0431" y="329879"/>
            <a:ext cx="8906720" cy="6936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Customizing outputs with Power </a:t>
            </a:r>
            <a:r>
              <a:rPr lang="en-US" sz="6000" b="1" dirty="0" err="1">
                <a:solidFill>
                  <a:srgbClr val="CF3338"/>
                </a:solidFill>
                <a:latin typeface="Pragmatica" panose="020B0403040502020204" pitchFamily="34" charset="0"/>
              </a:rPr>
              <a:t>Fx</a:t>
            </a:r>
            <a:endParaRPr lang="en-US" sz="6000" b="1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3200" kern="100" dirty="0">
                <a:solidFill>
                  <a:srgbClr val="CF3338"/>
                </a:solidFill>
                <a:effectLst/>
                <a:latin typeface="Pragmatica" panose="020B0403040502020204"/>
                <a:ea typeface="Aptos" panose="020B0004020202020204" pitchFamily="34" charset="0"/>
                <a:cs typeface="Times New Roman" panose="02020603050405020304" pitchFamily="18" charset="0"/>
              </a:rPr>
              <a:t>Continue with the previous example</a:t>
            </a: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3200" kern="100" dirty="0">
                <a:solidFill>
                  <a:srgbClr val="CF3338"/>
                </a:solidFill>
                <a:latin typeface="Pragmatica" panose="020B0403040502020204"/>
                <a:ea typeface="Aptos" panose="020B0004020202020204" pitchFamily="34" charset="0"/>
                <a:cs typeface="Times New Roman" panose="02020603050405020304" pitchFamily="18" charset="0"/>
              </a:rPr>
              <a:t>How can we improve appearance of outputs in Excel? </a:t>
            </a:r>
            <a:endParaRPr lang="en-US" sz="3200" kern="100" dirty="0">
              <a:solidFill>
                <a:srgbClr val="CF3338"/>
              </a:solidFill>
              <a:effectLst/>
              <a:latin typeface="Pragmatica" panose="020B0403040502020204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Resource: https://stringfestanalytics.com/power-automate-for-excel-how-to-understand-the-power-fx-programming-language/</a:t>
            </a:r>
            <a:endParaRPr lang="en-US" sz="6000" dirty="0">
              <a:solidFill>
                <a:srgbClr val="CF3338"/>
              </a:solidFill>
              <a:latin typeface="Pragmatica" panose="020B04030405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6792217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679BB-E487-A9E3-1278-DBD7FB7F1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8E3D40-A823-8428-6682-B724027EAF41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524E154-15C4-0B23-E9C5-29E2DD49732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1343823-9545-2632-2777-4994B59C3581}"/>
              </a:ext>
            </a:extLst>
          </p:cNvPr>
          <p:cNvSpPr txBox="1"/>
          <p:nvPr/>
        </p:nvSpPr>
        <p:spPr>
          <a:xfrm>
            <a:off x="260431" y="329879"/>
            <a:ext cx="8906720" cy="67911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Building flows with Copilot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3200" kern="100" dirty="0">
                <a:solidFill>
                  <a:srgbClr val="CF3338"/>
                </a:solidFill>
                <a:effectLst/>
                <a:latin typeface="Pragmatica" panose="020B0403040502020204"/>
                <a:ea typeface="Aptos" panose="020B0004020202020204" pitchFamily="34" charset="0"/>
                <a:cs typeface="Times New Roman" panose="02020603050405020304" pitchFamily="18" charset="0"/>
              </a:rPr>
              <a:t>Get AI assistance to build a flow</a:t>
            </a: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3200" kern="100" dirty="0">
                <a:solidFill>
                  <a:srgbClr val="CF3338"/>
                </a:solidFill>
                <a:latin typeface="Pragmatica" panose="020B0403040502020204"/>
                <a:ea typeface="Aptos" panose="020B0004020202020204" pitchFamily="34" charset="0"/>
                <a:cs typeface="Times New Roman" panose="02020603050405020304" pitchFamily="18" charset="0"/>
              </a:rPr>
              <a:t>Create a monthly email/post to Teams based on data in a workbook</a:t>
            </a:r>
            <a:endParaRPr lang="en-US" sz="3200" kern="100" dirty="0">
              <a:solidFill>
                <a:srgbClr val="CF3338"/>
              </a:solidFill>
              <a:effectLst/>
              <a:latin typeface="Pragmatica" panose="020B0403040502020204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File: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power-automate-copilot.xlsx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Resource: https://stringfestanalytics.com/power-automate-for-excel-how-to-build-flows-with-copilot/</a:t>
            </a:r>
            <a:endParaRPr lang="en-US" sz="6000" dirty="0">
              <a:solidFill>
                <a:srgbClr val="CF3338"/>
              </a:solidFill>
              <a:latin typeface="Pragmatica" panose="020B0403040502020204"/>
            </a:endParaRPr>
          </a:p>
        </p:txBody>
      </p:sp>
    </p:spTree>
    <p:extLst>
      <p:ext uri="{BB962C8B-B14F-4D97-AF65-F5344CB8AC3E}">
        <p14:creationId xmlns:p14="http://schemas.microsoft.com/office/powerpoint/2010/main" val="4459534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28" t="56371"/>
          <a:stretch/>
        </p:blipFill>
        <p:spPr>
          <a:xfrm>
            <a:off x="12204691" y="3316148"/>
            <a:ext cx="6083309" cy="697085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07744" y="-3724155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Questions?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A06221-5316-4BCF-9FDA-BDB95FF4A7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204691" y="3317239"/>
            <a:ext cx="6083309" cy="696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8607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323C9-D5F7-C820-78B9-E169BDF23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971779-1F50-1702-DEC1-87CD482189F0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CC4C7B-C529-5329-03AC-796804551DC1}"/>
              </a:ext>
            </a:extLst>
          </p:cNvPr>
          <p:cNvSpPr txBox="1"/>
          <p:nvPr/>
        </p:nvSpPr>
        <p:spPr>
          <a:xfrm>
            <a:off x="781292" y="590309"/>
            <a:ext cx="15486926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900" b="1" dirty="0">
                <a:solidFill>
                  <a:schemeClr val="bg1"/>
                </a:solidFill>
                <a:latin typeface="Normafixed Tryout" panose="00000409000000000000" pitchFamily="49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6578290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2660</TotalTime>
  <Words>209</Words>
  <Application>Microsoft Office PowerPoint</Application>
  <PresentationFormat>Custom</PresentationFormat>
  <Paragraphs>44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Aliens &amp; cows</vt:lpstr>
      <vt:lpstr>Consolas</vt:lpstr>
      <vt:lpstr>Pragmatica</vt:lpstr>
      <vt:lpstr>Normafixed Tryout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excel-statistics-for-business-analytics</dc:title>
  <dc:creator>User</dc:creator>
  <cp:lastModifiedBy>George Mount</cp:lastModifiedBy>
  <cp:revision>227</cp:revision>
  <dcterms:created xsi:type="dcterms:W3CDTF">2006-08-16T00:00:00Z</dcterms:created>
  <dcterms:modified xsi:type="dcterms:W3CDTF">2025-11-18T00:02:01Z</dcterms:modified>
  <dc:identifier>DADurESpNu8</dc:identifier>
</cp:coreProperties>
</file>