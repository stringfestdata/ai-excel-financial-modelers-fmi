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41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78463" autoAdjust="0"/>
  </p:normalViewPr>
  <p:slideViewPr>
    <p:cSldViewPr>
      <p:cViewPr varScale="1">
        <p:scale>
          <a:sx n="33" d="100"/>
          <a:sy n="33" d="100"/>
        </p:scale>
        <p:origin x="779" y="2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-23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 want to talk about what the </a:t>
            </a:r>
            <a:r>
              <a:rPr lang="en-US" i="1" dirty="0"/>
              <a:t>modern</a:t>
            </a:r>
            <a:r>
              <a:rPr lang="en-US" dirty="0"/>
              <a:t> Excel modeling stack actually looks like when you add AI into the mix — not in theory, not in marketing decks, but in workflows financial modelers can defend.</a:t>
            </a:r>
          </a:p>
          <a:p>
            <a:r>
              <a:rPr lang="en-US" dirty="0"/>
              <a:t>This isn’t about replacing Excel. It’s about extending it — with Copilot, Python, automation, and agents — in ways that still respect auditability, control, and judgment.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7534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spend most of my time helping Excel users move away from fragile, one-off spreadsheets toward workflows they actually trust — especially in finance and accounting environments.</a:t>
            </a:r>
          </a:p>
          <a:p>
            <a:r>
              <a:rPr lang="en-US" dirty="0"/>
              <a:t>I’ve written a books with O’Reilly, teach on LinkedIn Learning, and serve as an Excel MVP. So what you’ll see today reflects how these tools are </a:t>
            </a:r>
            <a:r>
              <a:rPr lang="en-US" i="1" dirty="0"/>
              <a:t>actually</a:t>
            </a:r>
            <a:r>
              <a:rPr lang="en-US" dirty="0"/>
              <a:t> being used, not just what’s possible in demos.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87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Here’s what I want you to walk away with.</a:t>
            </a:r>
          </a:p>
          <a:p>
            <a:r>
              <a:rPr lang="en-US" dirty="0"/>
              <a:t>First, how to clean and prep data in a way that’s auditable and repeatable — not copy-paste heroics.</a:t>
            </a:r>
            <a:br>
              <a:rPr lang="en-US" dirty="0"/>
            </a:br>
            <a:r>
              <a:rPr lang="en-US" dirty="0"/>
              <a:t>Second, how Python inside Excel unlocks forecasting and simulation without turning Excel into a science project.</a:t>
            </a:r>
            <a:br>
              <a:rPr lang="en-US" dirty="0"/>
            </a:br>
            <a:r>
              <a:rPr lang="en-US" dirty="0"/>
              <a:t>Third, where Copilot helps — and where it absolutely should </a:t>
            </a:r>
            <a:r>
              <a:rPr lang="en-US" i="1" dirty="0"/>
              <a:t>not</a:t>
            </a:r>
            <a:r>
              <a:rPr lang="en-US" dirty="0"/>
              <a:t> be trusted blindly.</a:t>
            </a:r>
            <a:br>
              <a:rPr lang="en-US" dirty="0"/>
            </a:br>
            <a:r>
              <a:rPr lang="en-US" dirty="0"/>
              <a:t>And finally, how automation and agents fit into a modeling workflow without giving up control.</a:t>
            </a:r>
          </a:p>
          <a:p>
            <a:r>
              <a:rPr lang="en-US" dirty="0"/>
              <a:t>The goal is something practical you can use tomorrow, not a roadmap that depends on perfect tooling.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3200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see people fall into two unhelpful extremes with AI.</a:t>
            </a:r>
          </a:p>
          <a:p>
            <a:r>
              <a:rPr lang="en-US" dirty="0"/>
              <a:t>On one side: “AI is useless, it’s all hype.”</a:t>
            </a:r>
            <a:br>
              <a:rPr lang="en-US" dirty="0"/>
            </a:br>
            <a:r>
              <a:rPr lang="en-US" dirty="0"/>
              <a:t>On the other: “AI will replace analysts.”</a:t>
            </a:r>
          </a:p>
          <a:p>
            <a:r>
              <a:rPr lang="en-US" dirty="0"/>
              <a:t>The reality is boring — and that’s good. AI is just another tool.</a:t>
            </a:r>
          </a:p>
          <a:p>
            <a:r>
              <a:rPr lang="en-US" dirty="0"/>
              <a:t>The value comes from pairing it with structured data, clear assumptions, and human judgment. If you don’t already have those, AI just helps you make mistakes faster.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3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mental model I want you to keep in mind.</a:t>
            </a:r>
          </a:p>
          <a:p>
            <a:r>
              <a:rPr lang="en-US" dirty="0"/>
              <a:t>At the bottom, you still need a data backbone — Power BI, Dataverse, or at least well-structured sources.</a:t>
            </a:r>
            <a:br>
              <a:rPr lang="en-US" dirty="0"/>
            </a:br>
            <a:r>
              <a:rPr lang="en-US" dirty="0"/>
              <a:t>Power Query handles cleaning and shaping in a way you can explain later.</a:t>
            </a:r>
            <a:br>
              <a:rPr lang="en-US" dirty="0"/>
            </a:br>
            <a:r>
              <a:rPr lang="en-US" dirty="0"/>
              <a:t>Excel itself becomes the analysis layer: Copilot, Python, Agent Mode — this is where thinking happens.</a:t>
            </a:r>
            <a:br>
              <a:rPr lang="en-US" dirty="0"/>
            </a:br>
            <a:r>
              <a:rPr lang="en-US" dirty="0"/>
              <a:t>Office Scripts and Power Automate handle repeatability.</a:t>
            </a:r>
            <a:br>
              <a:rPr lang="en-US" dirty="0"/>
            </a:br>
            <a:r>
              <a:rPr lang="en-US" dirty="0"/>
              <a:t>And Copilot Studio sits at the top for governance and customization.</a:t>
            </a:r>
          </a:p>
          <a:p>
            <a:r>
              <a:rPr lang="en-US" dirty="0"/>
              <a:t>The key point: AI doesn’t replace layers. It </a:t>
            </a:r>
            <a:r>
              <a:rPr lang="en-US" i="1" dirty="0"/>
              <a:t>amplifies</a:t>
            </a:r>
            <a:r>
              <a:rPr lang="en-US" dirty="0"/>
              <a:t> them.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955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most models quietly fall apart.</a:t>
            </a:r>
          </a:p>
          <a:p>
            <a:r>
              <a:rPr lang="en-US" dirty="0"/>
              <a:t>We start by using Copilot to </a:t>
            </a:r>
            <a:r>
              <a:rPr lang="en-US" i="1" dirty="0"/>
              <a:t>profile</a:t>
            </a:r>
            <a:r>
              <a:rPr lang="en-US" dirty="0"/>
              <a:t> the data — not to fix it automatically, but to surface issues faster.</a:t>
            </a:r>
            <a:br>
              <a:rPr lang="en-US" dirty="0"/>
            </a:br>
            <a:r>
              <a:rPr lang="en-US" dirty="0"/>
              <a:t>Then we build the actual cleaning logic in Power Query so it’s reproducible and reviewable.</a:t>
            </a:r>
            <a:br>
              <a:rPr lang="en-US" dirty="0"/>
            </a:br>
            <a:r>
              <a:rPr lang="en-US" dirty="0"/>
              <a:t>Finally, Copilot helps with documentation — explaining transformations in plain English, which is incredibly useful during reviews.</a:t>
            </a:r>
          </a:p>
          <a:p>
            <a:r>
              <a:rPr lang="en-US" dirty="0"/>
              <a:t>The takeaway: Copilot assists, Power Query decides.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powerful upgrades to Excel in years.</a:t>
            </a:r>
          </a:p>
          <a:p>
            <a:r>
              <a:rPr lang="en-US" dirty="0"/>
              <a:t>You can describe assumptions in natural language — distributions, ranges, scenarios — and let Copilot help scaffold the Python.</a:t>
            </a:r>
            <a:br>
              <a:rPr lang="en-US" dirty="0"/>
            </a:br>
            <a:r>
              <a:rPr lang="en-US" dirty="0"/>
              <a:t>But the important part is that the simulation itself is deterministic, reproducible code.</a:t>
            </a:r>
          </a:p>
          <a:p>
            <a:r>
              <a:rPr lang="en-US" dirty="0"/>
              <a:t>You’re not guessing outcomes. You’re explicitly modeling uncertainty — and Excel remains the interface decision-makers are comfortable with.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things start to feel new.</a:t>
            </a:r>
          </a:p>
          <a:p>
            <a:r>
              <a:rPr lang="en-US" dirty="0"/>
              <a:t>Instead of asking for a single answer, you ask the Analyst Agent to </a:t>
            </a:r>
            <a:r>
              <a:rPr lang="en-US" i="1" dirty="0"/>
              <a:t>reason through</a:t>
            </a:r>
            <a:r>
              <a:rPr lang="en-US" dirty="0"/>
              <a:t> patterns — valuation differences, outliers, sector behavior.</a:t>
            </a:r>
          </a:p>
          <a:p>
            <a:r>
              <a:rPr lang="en-US" dirty="0"/>
              <a:t>The key is transparency. You let the agent show its intermediate steps, then you decide what to trust.</a:t>
            </a:r>
          </a:p>
          <a:p>
            <a:r>
              <a:rPr lang="en-US" dirty="0"/>
              <a:t>Used correctly, this becomes a drafting and sense-checking tool for executive summaries — not an oracle.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Finally, automation.</a:t>
            </a:r>
          </a:p>
          <a:p>
            <a:r>
              <a:rPr lang="en-US" dirty="0"/>
              <a:t>We record Office Scripts for the boring, repetitive modeling steps — formatting, refresh logic, setup tasks.</a:t>
            </a:r>
            <a:br>
              <a:rPr lang="en-US" dirty="0"/>
            </a:br>
            <a:r>
              <a:rPr lang="en-US" dirty="0"/>
              <a:t>Power Automate handles when those scripts run — on schedules or events.</a:t>
            </a:r>
          </a:p>
          <a:p>
            <a:r>
              <a:rPr lang="en-US" dirty="0"/>
              <a:t>The important point is this: automation doesn’t remove control. It removes </a:t>
            </a:r>
            <a:r>
              <a:rPr lang="en-US" i="1" dirty="0"/>
              <a:t>manual risk</a:t>
            </a:r>
            <a:r>
              <a:rPr lang="en-US" dirty="0"/>
              <a:t>.</a:t>
            </a:r>
          </a:p>
          <a:p>
            <a:r>
              <a:rPr lang="en-US" dirty="0"/>
              <a:t>You still own the logic. You just stop re-doing it by hand.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Mode is where AI starts to feel less like a chat window and more like a coordinator.</a:t>
            </a:r>
          </a:p>
          <a:p>
            <a:r>
              <a:rPr lang="en-US" dirty="0"/>
              <a:t>Instead of issuing one-off prompts, you can ask the agent to manage multi-step work across sheets, tables, and tools — formulas, charts, explanations, all in one pass.</a:t>
            </a:r>
          </a:p>
          <a:p>
            <a:r>
              <a:rPr lang="en-US" dirty="0"/>
              <a:t>The critical part is oversight. You don’t “run and trust.” You review, approve, and decide what sticks.</a:t>
            </a:r>
          </a:p>
          <a:p>
            <a:r>
              <a:rPr lang="en-US" dirty="0"/>
              <a:t>Think of Agent Mode as a junior analyst who can move quickly — but still needs supervision to keep things defensible.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I’m bringing this stack back up deliberately.</a:t>
            </a:r>
          </a:p>
          <a:p>
            <a:r>
              <a:rPr lang="en-US" dirty="0"/>
              <a:t>Notice that Agent Mode lives </a:t>
            </a:r>
            <a:r>
              <a:rPr lang="en-US" i="1" dirty="0"/>
              <a:t>inside</a:t>
            </a:r>
            <a:r>
              <a:rPr lang="en-US" dirty="0"/>
              <a:t> Excel — not above it, not replacing it.</a:t>
            </a:r>
          </a:p>
          <a:p>
            <a:r>
              <a:rPr lang="en-US" dirty="0"/>
              <a:t>That’s intentional. The closer AI stays to structured data, the more useful and trustworthy it becomes.</a:t>
            </a:r>
          </a:p>
          <a:p>
            <a:r>
              <a:rPr lang="en-US" dirty="0"/>
              <a:t>When people try to jump straight to agents without clean data or repeatable workflows underneath, things fall apart fast.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9719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pause here for questions.</a:t>
            </a:r>
          </a:p>
          <a:p>
            <a:r>
              <a:rPr lang="en-US" dirty="0"/>
              <a:t>And just to set expectations — I’m happy to talk about where this </a:t>
            </a:r>
            <a:r>
              <a:rPr lang="en-US" i="1" dirty="0"/>
              <a:t>doesn’t</a:t>
            </a:r>
            <a:r>
              <a:rPr lang="en-US" dirty="0"/>
              <a:t> work yet, where it’s rough, or where finance teams should be cautious.</a:t>
            </a:r>
          </a:p>
          <a:p>
            <a:r>
              <a:rPr lang="en-US" dirty="0"/>
              <a:t>There are no bonus points for pretending this stuff is perfect.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3913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for your time and attention.</a:t>
            </a:r>
          </a:p>
          <a:p>
            <a:r>
              <a:rPr lang="en-US" dirty="0"/>
              <a:t>If there’s one thing I’d leave you with, it’s this:</a:t>
            </a:r>
            <a:br>
              <a:rPr lang="en-US" dirty="0"/>
            </a:br>
            <a:r>
              <a:rPr lang="en-US" dirty="0"/>
              <a:t>AI doesn’t replace modeling discipline — it rewards it.</a:t>
            </a:r>
          </a:p>
          <a:p>
            <a:r>
              <a:rPr lang="en-US"/>
              <a:t>The better your structure, assumptions, and documentation, the more leverage you get from these tools.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370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+ Excel Modeling Stack: What Financial Modelers Need to Know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 descr="Financial Modeling Certification | Financial Modeling Institute">
            <a:extLst>
              <a:ext uri="{FF2B5EF4-FFF2-40B4-BE49-F238E27FC236}">
                <a16:creationId xmlns:a16="http://schemas.microsoft.com/office/drawing/2014/main" id="{72EA68FA-08B3-420A-F901-011898D55C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295900"/>
            <a:ext cx="6118033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3011018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where Office Scripts,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is just another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667000" y="4991100"/>
            <a:ext cx="365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is useless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1125200" y="4839325"/>
            <a:ext cx="3657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will take my job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5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profile for dirty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pipeline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Improve the documentation with Copilot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296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Monte Carlo simulation with Copilot + Python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parameters via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simulation with Python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EquitySnapshotClean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Agentic reasoning &amp; analysis </a:t>
            </a:r>
            <a:r>
              <a:rPr lang="en-US" sz="6000" b="1">
                <a:solidFill>
                  <a:srgbClr val="CF3338"/>
                </a:solidFill>
                <a:latin typeface="Pragmatica" panose="020B0403040502020204" pitchFamily="34" charset="0"/>
              </a:rPr>
              <a:t>with Analyst Agent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Agent Analyst to diagnose valuation patterns, outliers, and sector differences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walk through its reasoning and show intermediate steps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its findings to draft a concise, defensible executive 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1" y="329879"/>
            <a:ext cx="8906720" cy="8494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Automated workflows with Office Scripts &amp; Power Automate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an Office Script for a repetitive modeling step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trigger the script automatically on a schedule or event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automation removes manual touchpoints without sacrificing control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9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AI-assisted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coordinate multi-step tasks across sheets, tables, and tools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combine formulas, charts, and explanations into one workflow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 and approve its output to ensure accuracy and maintain auditability</a:t>
            </a:r>
            <a:endParaRPr lang="en-US" sz="32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2693</TotalTime>
  <Words>1278</Words>
  <Application>Microsoft Office PowerPoint</Application>
  <PresentationFormat>Custom</PresentationFormat>
  <Paragraphs>102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Calibri</vt:lpstr>
      <vt:lpstr>Aliens &amp; cows</vt:lpstr>
      <vt:lpstr>Pragmatica</vt:lpstr>
      <vt:lpstr>Normafixed Tryout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232</cp:revision>
  <dcterms:created xsi:type="dcterms:W3CDTF">2006-08-16T00:00:00Z</dcterms:created>
  <dcterms:modified xsi:type="dcterms:W3CDTF">2026-01-07T21:07:48Z</dcterms:modified>
  <dc:identifier>DADurESpNu8</dc:identifier>
</cp:coreProperties>
</file>