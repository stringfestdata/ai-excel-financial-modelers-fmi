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56" r:id="rId2"/>
    <p:sldId id="441" r:id="rId3"/>
    <p:sldId id="426" r:id="rId4"/>
    <p:sldId id="435" r:id="rId5"/>
    <p:sldId id="436" r:id="rId6"/>
    <p:sldId id="407" r:id="rId7"/>
    <p:sldId id="437" r:id="rId8"/>
    <p:sldId id="438" r:id="rId9"/>
    <p:sldId id="439" r:id="rId10"/>
    <p:sldId id="428" r:id="rId11"/>
    <p:sldId id="440" r:id="rId12"/>
    <p:sldId id="415" r:id="rId13"/>
    <p:sldId id="427" r:id="rId14"/>
  </p:sldIdLst>
  <p:sldSz cx="18288000" cy="10287000"/>
  <p:notesSz cx="6858000" cy="9144000"/>
  <p:embeddedFontLst>
    <p:embeddedFont>
      <p:font typeface="Consolas" panose="020B0609020204030204" pitchFamily="49" charset="0"/>
      <p:regular r:id="rId16"/>
      <p:bold r:id="rId17"/>
      <p:italic r:id="rId18"/>
      <p:boldItalic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7684158-E8C8-9BE0-21EB-718D906F94A5}" name="George Mount" initials="GM" userId="S::george@stringfestanalytics.com::22d0b802-afc6-4b8f-ba57-7a855d96927f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eorge Mount" initials="GM" lastIdx="9" clrIdx="0">
    <p:extLst>
      <p:ext uri="{19B8F6BF-5375-455C-9EA6-DF929625EA0E}">
        <p15:presenceInfo xmlns:p15="http://schemas.microsoft.com/office/powerpoint/2012/main" userId="57d2ab2a84d54c8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3338"/>
    <a:srgbClr val="3D39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92" autoAdjust="0"/>
    <p:restoredTop sz="34685" autoAdjust="0"/>
  </p:normalViewPr>
  <p:slideViewPr>
    <p:cSldViewPr>
      <p:cViewPr varScale="1">
        <p:scale>
          <a:sx n="11" d="100"/>
          <a:sy n="11" d="100"/>
        </p:scale>
        <p:origin x="2059" y="2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40" d="100"/>
        <a:sy n="14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A98A70-FA8C-4354-959C-C70678AC9BCF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B500C5-13F7-48FC-8160-C29AECF6C6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350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 I want to talk about what the </a:t>
            </a:r>
            <a:r>
              <a:rPr lang="en-US" i="1" dirty="0"/>
              <a:t>modern</a:t>
            </a:r>
            <a:r>
              <a:rPr lang="en-US" dirty="0"/>
              <a:t> Excel modeling stack actually looks like when you add AI into the mix — not in theory, not in marketing decks, but in workflows financial modelers can defend.</a:t>
            </a:r>
          </a:p>
          <a:p>
            <a:endParaRPr lang="en-US" dirty="0"/>
          </a:p>
          <a:p>
            <a:r>
              <a:rPr lang="en-US" dirty="0"/>
              <a:t>This session is not about teaching financial modeling techniques like DCFs or 3-statement models.</a:t>
            </a:r>
          </a:p>
          <a:p>
            <a:r>
              <a:rPr lang="en-US" dirty="0"/>
              <a:t>It’s about the layer </a:t>
            </a:r>
            <a:r>
              <a:rPr lang="en-US" i="1" dirty="0"/>
              <a:t>around</a:t>
            </a:r>
            <a:r>
              <a:rPr lang="en-US" dirty="0"/>
              <a:t> those models:</a:t>
            </a:r>
            <a:br>
              <a:rPr lang="en-US" dirty="0"/>
            </a:br>
            <a:r>
              <a:rPr lang="en-US" dirty="0"/>
              <a:t>data quality, repeatability, auditability, and analytical acceleration inside Excel.</a:t>
            </a:r>
          </a:p>
          <a:p>
            <a:r>
              <a:rPr lang="en-US" dirty="0"/>
              <a:t>Everything you’ll see today is designed to support traditional financial modeling, not replace it.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7534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spend most of my time helping Excel users move away from fragile, one-off spreadsheets toward workflows they actually trust — especially in finance and accounting environments.</a:t>
            </a:r>
          </a:p>
          <a:p>
            <a:r>
              <a:rPr lang="en-US" dirty="0"/>
              <a:t>I’ve written a books with O’Reilly, teach on LinkedIn Learning, and serve as an Excel MVP. So what you’ll see today reflects how these tools are </a:t>
            </a:r>
            <a:r>
              <a:rPr lang="en-US" i="1" dirty="0"/>
              <a:t>actually</a:t>
            </a:r>
            <a:r>
              <a:rPr lang="en-US" dirty="0"/>
              <a:t> being used, not just what’s possible in demos.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1875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Here’s what I want you to walk away with.</a:t>
            </a:r>
          </a:p>
          <a:p>
            <a:r>
              <a:rPr lang="en-US" dirty="0"/>
              <a:t>First, how to clean and prep data in a way that’s auditable and repeatable — not copy-paste heroics.</a:t>
            </a:r>
            <a:br>
              <a:rPr lang="en-US" dirty="0"/>
            </a:br>
            <a:r>
              <a:rPr lang="en-US" dirty="0"/>
              <a:t>Second, how Python inside Excel unlocks forecasting and simulation without turning Excel into a science project.</a:t>
            </a:r>
            <a:br>
              <a:rPr lang="en-US" dirty="0"/>
            </a:br>
            <a:r>
              <a:rPr lang="en-US" dirty="0"/>
              <a:t>Third, where Copilot helps — and where it absolutely should </a:t>
            </a:r>
            <a:r>
              <a:rPr lang="en-US" i="1" dirty="0"/>
              <a:t>not</a:t>
            </a:r>
            <a:r>
              <a:rPr lang="en-US" dirty="0"/>
              <a:t> be trusted blindly.</a:t>
            </a:r>
            <a:br>
              <a:rPr lang="en-US" dirty="0"/>
            </a:br>
            <a:r>
              <a:rPr lang="en-US" dirty="0"/>
              <a:t>And finally, how automation and agents fit into a modeling workflow without giving up control.</a:t>
            </a:r>
          </a:p>
          <a:p>
            <a:r>
              <a:rPr lang="en-US" dirty="0"/>
              <a:t>The goal is something practical you can use tomorrow, not a roadmap that depends on perfect tooling.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3200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see people fall into two unhelpful extremes with AI.</a:t>
            </a:r>
          </a:p>
          <a:p>
            <a:r>
              <a:rPr lang="en-US" dirty="0"/>
              <a:t>On one side: “AI is useless, it’s all hype.”</a:t>
            </a:r>
            <a:br>
              <a:rPr lang="en-US" dirty="0"/>
            </a:br>
            <a:r>
              <a:rPr lang="en-US" dirty="0"/>
              <a:t>On the other: “AI will replace analysts.”</a:t>
            </a:r>
          </a:p>
          <a:p>
            <a:r>
              <a:rPr lang="en-US" dirty="0"/>
              <a:t>The reality is boring — and that’s good. AI is just another tool.</a:t>
            </a:r>
          </a:p>
          <a:p>
            <a:r>
              <a:rPr lang="en-US" dirty="0"/>
              <a:t>The value comes from pairing it with structured data, clear assumptions, and human judgment. If you don’t already have those, AI just helps you make mistakes faster.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31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mental model I want you to keep in mind.</a:t>
            </a:r>
          </a:p>
          <a:p>
            <a:r>
              <a:rPr lang="en-US" dirty="0"/>
              <a:t>At the bottom, you still need a data backbone — Power BI, Dataverse, or at least well-structured sources.</a:t>
            </a:r>
            <a:br>
              <a:rPr lang="en-US" dirty="0"/>
            </a:br>
            <a:r>
              <a:rPr lang="en-US" dirty="0"/>
              <a:t>Power Query handles cleaning and shaping in a way you can explain later.</a:t>
            </a:r>
            <a:br>
              <a:rPr lang="en-US" dirty="0"/>
            </a:br>
            <a:r>
              <a:rPr lang="en-US" dirty="0"/>
              <a:t>Excel itself becomes the analysis layer: Copilot, Python, Agent Mode — this is where thinking happens.</a:t>
            </a:r>
            <a:br>
              <a:rPr lang="en-US" dirty="0"/>
            </a:br>
            <a:r>
              <a:rPr lang="en-US" dirty="0"/>
              <a:t>Office Scripts and Power Automate handle repeatability.</a:t>
            </a:r>
            <a:br>
              <a:rPr lang="en-US" dirty="0"/>
            </a:br>
            <a:r>
              <a:rPr lang="en-US" dirty="0"/>
              <a:t>And Copilot Studio sits at the top for governance and customization.</a:t>
            </a:r>
          </a:p>
          <a:p>
            <a:r>
              <a:rPr lang="en-US" dirty="0"/>
              <a:t>The key point: AI doesn’t replace layers. It </a:t>
            </a:r>
            <a:r>
              <a:rPr lang="en-US" i="1" dirty="0"/>
              <a:t>amplifies</a:t>
            </a:r>
            <a:r>
              <a:rPr lang="en-US" dirty="0"/>
              <a:t> them.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9556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most models quietly fall apart.</a:t>
            </a:r>
          </a:p>
          <a:p>
            <a:r>
              <a:rPr lang="en-US" dirty="0"/>
              <a:t>We start by using Copilot to </a:t>
            </a:r>
            <a:r>
              <a:rPr lang="en-US" i="1" dirty="0"/>
              <a:t>profile</a:t>
            </a:r>
            <a:r>
              <a:rPr lang="en-US" dirty="0"/>
              <a:t> the data — not to fix it automatically, but to surface issues faster.</a:t>
            </a:r>
            <a:br>
              <a:rPr lang="en-US" dirty="0"/>
            </a:br>
            <a:r>
              <a:rPr lang="en-US" dirty="0"/>
              <a:t>Then we build the actual cleaning logic in Power Query so it’s reproducible and reviewable.</a:t>
            </a:r>
            <a:br>
              <a:rPr lang="en-US" dirty="0"/>
            </a:br>
            <a:r>
              <a:rPr lang="en-US" dirty="0"/>
              <a:t>Finally, Copilot helps with documentation — explaining transformations in plain English, which is incredibly useful during reviews.</a:t>
            </a:r>
          </a:p>
          <a:p>
            <a:r>
              <a:rPr lang="en-US" dirty="0"/>
              <a:t>The takeaway: Copilot assists, Power Query decides.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5492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EDD0E-7B26-6A40-B99C-1DB1BA641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C93FE2-3717-2EDA-F56E-5665D5A85A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5CE75D-996B-9833-1013-EAD9BB8A2B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one of the most powerful upgrades to Excel in years.</a:t>
            </a:r>
          </a:p>
          <a:p>
            <a:r>
              <a:rPr lang="en-US" dirty="0"/>
              <a:t>You can describe assumptions in natural language — distributions, ranges, scenarios — and let Copilot help scaffold the Python.</a:t>
            </a:r>
            <a:br>
              <a:rPr lang="en-US" dirty="0"/>
            </a:br>
            <a:r>
              <a:rPr lang="en-US" dirty="0"/>
              <a:t>But the important part is that the simulation itself is deterministic, reproducible code.</a:t>
            </a:r>
          </a:p>
          <a:p>
            <a:r>
              <a:rPr lang="en-US" dirty="0"/>
              <a:t>You’re not guessing outcomes. You’re explicitly modeling uncertainty — and Excel remains the interface decision-makers are comfortable with.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8AF92-EF6C-FA8B-D809-38ED0AB72A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4485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E22B3-BAA4-0BAA-67B7-A455E33D5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A8D85-8EDB-320E-B82E-3D3DF0C099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E96F83-412B-A26C-C37C-A10F2595FF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things start to feel new.</a:t>
            </a:r>
          </a:p>
          <a:p>
            <a:r>
              <a:rPr lang="en-US" dirty="0"/>
              <a:t>Instead of asking for a single answer, you ask the Analyst Agent to </a:t>
            </a:r>
            <a:r>
              <a:rPr lang="en-US" i="1" dirty="0"/>
              <a:t>reason through</a:t>
            </a:r>
            <a:r>
              <a:rPr lang="en-US" dirty="0"/>
              <a:t> patterns — valuation differences, outliers, sector behavior.</a:t>
            </a:r>
          </a:p>
          <a:p>
            <a:r>
              <a:rPr lang="en-US" dirty="0"/>
              <a:t>The key is transparency. You let the agent show its intermediate steps, then you decide what to trust.</a:t>
            </a:r>
          </a:p>
          <a:p>
            <a:r>
              <a:rPr lang="en-US" dirty="0"/>
              <a:t>Used correctly, this becomes a drafting and sense-checking tool for executive summaries — not an oracle.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5AA045-B911-BDFF-838C-B03FB3819A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3875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4B1F5-1022-4CE3-A7AD-748C29390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2021AD-DA3C-D2A8-6DCA-10B5C73F01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398A40-4575-A2B2-0DDD-B74DA6A813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Finally, automation.</a:t>
            </a:r>
          </a:p>
          <a:p>
            <a:r>
              <a:rPr lang="en-US" dirty="0"/>
              <a:t>We record Office Scripts for the boring, repetitive modeling steps — formatting, refresh logic, setup tasks.</a:t>
            </a:r>
            <a:br>
              <a:rPr lang="en-US" dirty="0"/>
            </a:br>
            <a:r>
              <a:rPr lang="en-US" dirty="0"/>
              <a:t>Power Automate handles when those scripts run — on schedules or events.</a:t>
            </a:r>
          </a:p>
          <a:p>
            <a:r>
              <a:rPr lang="en-US" dirty="0"/>
              <a:t>The important point is this: automation doesn’t remove control. It removes </a:t>
            </a:r>
            <a:r>
              <a:rPr lang="en-US" i="1" dirty="0"/>
              <a:t>manual risk</a:t>
            </a:r>
            <a:r>
              <a:rPr lang="en-US" dirty="0"/>
              <a:t>.</a:t>
            </a:r>
          </a:p>
          <a:p>
            <a:r>
              <a:rPr lang="en-US" dirty="0"/>
              <a:t>You still own the logic. You just stop re-doing it by hand.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9951FB-F32F-3030-3950-0E80D0664D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8794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Mode is where AI starts to feel less like a chat window and more like a coordinator.</a:t>
            </a:r>
          </a:p>
          <a:p>
            <a:r>
              <a:rPr lang="en-US" dirty="0"/>
              <a:t>Instead of issuing one-off prompts, you can ask the agent to manage multi-step work across sheets, tables, and tools — formulas, charts, explanations, all in one pass.</a:t>
            </a:r>
          </a:p>
          <a:p>
            <a:r>
              <a:rPr lang="en-US" dirty="0"/>
              <a:t>The critical part is oversight. You don’t “run and trust.” You review, approve, and decide what sticks.</a:t>
            </a:r>
          </a:p>
          <a:p>
            <a:r>
              <a:rPr lang="en-US" dirty="0"/>
              <a:t>Think of Agent Mode as a junior analyst who can move quickly — but still needs supervision to keep things defensible.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3298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I’m bringing this stack back up deliberately.</a:t>
            </a:r>
          </a:p>
          <a:p>
            <a:r>
              <a:rPr lang="en-US" dirty="0"/>
              <a:t>Notice that Agent Mode lives </a:t>
            </a:r>
            <a:r>
              <a:rPr lang="en-US" i="1" dirty="0"/>
              <a:t>inside</a:t>
            </a:r>
            <a:r>
              <a:rPr lang="en-US" dirty="0"/>
              <a:t> Excel — not above it, not replacing it.</a:t>
            </a:r>
          </a:p>
          <a:p>
            <a:r>
              <a:rPr lang="en-US" dirty="0"/>
              <a:t>That’s intentional. The closer AI stays to structured data, the more useful and trustworthy it becomes.</a:t>
            </a:r>
          </a:p>
          <a:p>
            <a:r>
              <a:rPr lang="en-US" dirty="0"/>
              <a:t>When people try to jump straight to agents without clean data or repeatable workflows underneath, things fall apart fast.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9719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I’ll pause here for questions.</a:t>
            </a:r>
          </a:p>
          <a:p>
            <a:r>
              <a:rPr lang="en-US" dirty="0"/>
              <a:t>And just to set expectations — I’m happy to talk about where this </a:t>
            </a:r>
            <a:r>
              <a:rPr lang="en-US" i="1" dirty="0"/>
              <a:t>doesn’t</a:t>
            </a:r>
            <a:r>
              <a:rPr lang="en-US" dirty="0"/>
              <a:t> work yet, where it’s rough, or where finance teams should be cautious.</a:t>
            </a:r>
          </a:p>
          <a:p>
            <a:r>
              <a:rPr lang="en-US" dirty="0"/>
              <a:t>There are no bonus points for pretending this stuff is perfect.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3913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Thanks for your time and attention.</a:t>
            </a:r>
          </a:p>
          <a:p>
            <a:r>
              <a:rPr lang="en-US" dirty="0"/>
              <a:t>If there’s one thing I’d leave you with, it’s this:</a:t>
            </a:r>
            <a:br>
              <a:rPr lang="en-US" dirty="0"/>
            </a:br>
            <a:r>
              <a:rPr lang="en-US" dirty="0"/>
              <a:t>AI doesn’t replace modeling discipline — it rewards it.</a:t>
            </a:r>
          </a:p>
          <a:p>
            <a:r>
              <a:rPr lang="en-US"/>
              <a:t>The better your structure, assumptions, and documentation, the more leverage you get from these tools.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3707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eg"/><Relationship Id="rId3" Type="http://schemas.openxmlformats.org/officeDocument/2006/relationships/image" Target="../media/image4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42796" y="4850092"/>
            <a:ext cx="4745204" cy="543581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00" y="-3440159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The New AI + Excel Modeling Stack: What Financial Modelers Need to Know</a:t>
            </a:r>
          </a:p>
        </p:txBody>
      </p:sp>
      <p:sp>
        <p:nvSpPr>
          <p:cNvPr id="2" name="AutoShape 2" descr="Home | Full Stack Modeller">
            <a:extLst>
              <a:ext uri="{FF2B5EF4-FFF2-40B4-BE49-F238E27FC236}">
                <a16:creationId xmlns:a16="http://schemas.microsoft.com/office/drawing/2014/main" id="{6CCAA77C-4E76-640C-066C-F3E39EE1AC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3" name="Picture 2" descr="Financial Modeling Certification | Financial Modeling Institute">
            <a:extLst>
              <a:ext uri="{FF2B5EF4-FFF2-40B4-BE49-F238E27FC236}">
                <a16:creationId xmlns:a16="http://schemas.microsoft.com/office/drawing/2014/main" id="{72EA68FA-08B3-420A-F901-011898D55C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5295900"/>
            <a:ext cx="6118033" cy="453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59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 dirty="0"/>
          </a:p>
        </p:txBody>
      </p:sp>
      <p:sp>
        <p:nvSpPr>
          <p:cNvPr id="5" name="TextBox 4"/>
          <p:cNvSpPr txBox="1"/>
          <p:nvPr/>
        </p:nvSpPr>
        <p:spPr>
          <a:xfrm>
            <a:off x="781292" y="590309"/>
            <a:ext cx="15486926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900" b="1" dirty="0">
                <a:solidFill>
                  <a:schemeClr val="bg1"/>
                </a:solidFill>
                <a:latin typeface="Normafixed Tryout" panose="00000409000000000000" pitchFamily="49" charset="0"/>
              </a:rPr>
              <a:t>About me</a:t>
            </a:r>
          </a:p>
        </p:txBody>
      </p:sp>
      <p:pic>
        <p:nvPicPr>
          <p:cNvPr id="3" name="Picture 4" descr="Advancing into Analytics Cover Image">
            <a:extLst>
              <a:ext uri="{FF2B5EF4-FFF2-40B4-BE49-F238E27FC236}">
                <a16:creationId xmlns:a16="http://schemas.microsoft.com/office/drawing/2014/main" id="{588F684B-18EF-D76C-5F7B-15E4BAD606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38675" y="195638"/>
            <a:ext cx="3130385" cy="4088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97E0F267-87DF-961E-1FAA-47FD4F27A5C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3691" y="6002696"/>
            <a:ext cx="7448309" cy="5462681"/>
          </a:xfrm>
          <a:prstGeom prst="rect">
            <a:avLst/>
          </a:prstGeom>
        </p:spPr>
      </p:pic>
      <p:pic>
        <p:nvPicPr>
          <p:cNvPr id="1026" name="Picture 2" descr="Modern data analytics in Excel book cover">
            <a:extLst>
              <a:ext uri="{FF2B5EF4-FFF2-40B4-BE49-F238E27FC236}">
                <a16:creationId xmlns:a16="http://schemas.microsoft.com/office/drawing/2014/main" id="{874ADA5E-A7A7-1D02-C728-513187DE1E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8829" y="1736915"/>
            <a:ext cx="3437261" cy="4507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icrosoft Most Valuable Professional - Wikipedia">
            <a:extLst>
              <a:ext uri="{FF2B5EF4-FFF2-40B4-BE49-F238E27FC236}">
                <a16:creationId xmlns:a16="http://schemas.microsoft.com/office/drawing/2014/main" id="{36C71929-5967-B93D-05FE-E330D621C5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642" y="7832951"/>
            <a:ext cx="5057775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Global Excel Summit (9-11 February 2022) - Microsoft Excel Conference">
            <a:extLst>
              <a:ext uri="{FF2B5EF4-FFF2-40B4-BE49-F238E27FC236}">
                <a16:creationId xmlns:a16="http://schemas.microsoft.com/office/drawing/2014/main" id="{A4A37758-F92B-49D0-9144-77DE1A40AF2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397664" y="4795613"/>
            <a:ext cx="2901909" cy="2901909"/>
          </a:xfrm>
          <a:prstGeom prst="rect">
            <a:avLst/>
          </a:prstGeom>
        </p:spPr>
      </p:pic>
      <p:pic>
        <p:nvPicPr>
          <p:cNvPr id="7" name="Picture 6" descr="linkedinlearninginstructor #linkedinlearning | Thais Cooke | 80 comments">
            <a:extLst>
              <a:ext uri="{FF2B5EF4-FFF2-40B4-BE49-F238E27FC236}">
                <a16:creationId xmlns:a16="http://schemas.microsoft.com/office/drawing/2014/main" id="{C1E81082-DC04-E8C8-AF35-69591438D9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33407" y="4935896"/>
            <a:ext cx="5185833" cy="21336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4DDDC47-548D-1287-3489-8B5D9DA3C477}"/>
              </a:ext>
            </a:extLst>
          </p:cNvPr>
          <p:cNvSpPr txBox="1"/>
          <p:nvPr/>
        </p:nvSpPr>
        <p:spPr>
          <a:xfrm>
            <a:off x="849234" y="2485315"/>
            <a:ext cx="661836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I help Excel users move from fragile spreadsheets</a:t>
            </a:r>
          </a:p>
          <a:p>
            <a:r>
              <a:rPr lang="en-US" sz="3600" b="1" dirty="0">
                <a:solidFill>
                  <a:schemeClr val="bg1"/>
                </a:solidFill>
              </a:rPr>
              <a:t>to confident, scalable analysis.</a:t>
            </a:r>
          </a:p>
        </p:txBody>
      </p:sp>
    </p:spTree>
    <p:extLst>
      <p:ext uri="{BB962C8B-B14F-4D97-AF65-F5344CB8AC3E}">
        <p14:creationId xmlns:p14="http://schemas.microsoft.com/office/powerpoint/2010/main" val="30110188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520861" y="170082"/>
            <a:ext cx="1197979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Objectives for this session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0861" y="3191948"/>
            <a:ext cx="143931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Clean and prep data the modern, reliable way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Run forecasting and simulations in Python in Excel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Use Copilot for fast, defensible analysis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Understand where Office Scripts, Automate, and Agents actually fit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Build a practical modeling workflow you can use tomorrow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29761B90-A7DE-4A60-A915-F085BD87CA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076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2A2F7-CEB0-4209-DC3D-F249E9777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AB21DD4-1E71-0731-A2B8-76CDA8683D46}"/>
              </a:ext>
            </a:extLst>
          </p:cNvPr>
          <p:cNvSpPr txBox="1"/>
          <p:nvPr/>
        </p:nvSpPr>
        <p:spPr>
          <a:xfrm>
            <a:off x="520861" y="170082"/>
            <a:ext cx="119797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The AI sweet spot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367A43BF-28D5-E587-7263-F5E78BC8BD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sp>
        <p:nvSpPr>
          <p:cNvPr id="2" name="Arrow: Left-Right 1">
            <a:extLst>
              <a:ext uri="{FF2B5EF4-FFF2-40B4-BE49-F238E27FC236}">
                <a16:creationId xmlns:a16="http://schemas.microsoft.com/office/drawing/2014/main" id="{B25DAC54-5829-C2EE-04C9-18CD81CE9096}"/>
              </a:ext>
            </a:extLst>
          </p:cNvPr>
          <p:cNvSpPr/>
          <p:nvPr/>
        </p:nvSpPr>
        <p:spPr>
          <a:xfrm>
            <a:off x="1143000" y="3695700"/>
            <a:ext cx="15392400" cy="3733800"/>
          </a:xfrm>
          <a:prstGeom prst="leftRightArrow">
            <a:avLst/>
          </a:prstGeom>
          <a:solidFill>
            <a:srgbClr val="CF3338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F9E5D4-9FF2-2C0F-5B3F-7B2E307FA5D0}"/>
              </a:ext>
            </a:extLst>
          </p:cNvPr>
          <p:cNvSpPr/>
          <p:nvPr/>
        </p:nvSpPr>
        <p:spPr>
          <a:xfrm>
            <a:off x="6629400" y="4648200"/>
            <a:ext cx="3962400" cy="18288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/>
              <a:t>AI is just another tool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AC6237-2E9E-5783-FD0D-BC4939235463}"/>
              </a:ext>
            </a:extLst>
          </p:cNvPr>
          <p:cNvSpPr txBox="1"/>
          <p:nvPr/>
        </p:nvSpPr>
        <p:spPr>
          <a:xfrm>
            <a:off x="2667000" y="4991100"/>
            <a:ext cx="3657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solidFill>
                  <a:schemeClr val="bg1"/>
                </a:solidFill>
              </a:rPr>
              <a:t>AI is useless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16B48F-B4DE-EC2C-3E01-3DAE4467291D}"/>
              </a:ext>
            </a:extLst>
          </p:cNvPr>
          <p:cNvSpPr txBox="1"/>
          <p:nvPr/>
        </p:nvSpPr>
        <p:spPr>
          <a:xfrm>
            <a:off x="11125200" y="4839325"/>
            <a:ext cx="36576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solidFill>
                  <a:schemeClr val="bg1"/>
                </a:solidFill>
              </a:rPr>
              <a:t>AI will take my job</a:t>
            </a:r>
          </a:p>
        </p:txBody>
      </p:sp>
    </p:spTree>
    <p:extLst>
      <p:ext uri="{BB962C8B-B14F-4D97-AF65-F5344CB8AC3E}">
        <p14:creationId xmlns:p14="http://schemas.microsoft.com/office/powerpoint/2010/main" val="35234289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DDAFB-C39F-E1F1-239C-CC130F0E9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3F99B048-238E-884E-F9CC-BE10034697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83C5240-267F-C074-4137-482F2BB3C2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0" y="533400"/>
            <a:ext cx="9220200" cy="922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951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0431" y="329879"/>
            <a:ext cx="8906720" cy="70758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Auditable data cleaning with Power Query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Copilot to profile for dirty data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Build the reproducible pipeline with Power Query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Improve the documentation with Copilot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6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EquitySnapshot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871531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4CBBF-8FFC-E22C-8007-C2C9DD554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F9677D3-44B2-5B66-71B7-B1543A9DF4D8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731ED99-003F-9B63-0C97-20993D0F4B5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405B7C2-2826-D66C-4521-5694092DDB43}"/>
              </a:ext>
            </a:extLst>
          </p:cNvPr>
          <p:cNvSpPr txBox="1"/>
          <p:nvPr/>
        </p:nvSpPr>
        <p:spPr>
          <a:xfrm>
            <a:off x="260431" y="329879"/>
            <a:ext cx="8906720" cy="6296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Monte Carlo simulation with Copilot + Python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Specify parameters via natural language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Build the reproducible simulation with Python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6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EquitySnapshotClean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417352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A7F86A-C9A1-36F7-63F4-518236B2C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FA93C5A-E306-615A-6570-3BDCB204E0E4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563824-D714-5588-FCB3-54A382D2BC1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0301B72-4635-023D-51BD-0B9F1FEDF896}"/>
              </a:ext>
            </a:extLst>
          </p:cNvPr>
          <p:cNvSpPr txBox="1"/>
          <p:nvPr/>
        </p:nvSpPr>
        <p:spPr>
          <a:xfrm>
            <a:off x="260431" y="329879"/>
            <a:ext cx="8906720" cy="75711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Agentic reasoning &amp; analysis </a:t>
            </a:r>
            <a:r>
              <a:rPr lang="en-US" sz="6000" b="1">
                <a:solidFill>
                  <a:srgbClr val="CF3338"/>
                </a:solidFill>
                <a:latin typeface="Pragmatica" panose="020B0403040502020204" pitchFamily="34" charset="0"/>
              </a:rPr>
              <a:t>with Analyst Agent</a:t>
            </a:r>
            <a:endParaRPr lang="en-US" sz="6000" b="1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Ask Agent Analyst to diagnose valuation patterns, outliers, and sector differences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Let the agent walk through its reasoning and show intermediate steps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its findings to draft a concise, defensible executive summary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6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EquitySnapshotPlus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269920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CB882-454A-EA2E-95D8-625286901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6D9137F-AB84-4A7D-C46D-CD5ECFE5D7F4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65DE7AF-05B2-1DE1-C36A-524D3F1CCC2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6D2621-E985-98E9-6041-1E91616B5A2A}"/>
              </a:ext>
            </a:extLst>
          </p:cNvPr>
          <p:cNvSpPr txBox="1"/>
          <p:nvPr/>
        </p:nvSpPr>
        <p:spPr>
          <a:xfrm>
            <a:off x="260431" y="329879"/>
            <a:ext cx="8906720" cy="84945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Automated workflows with Office Scripts &amp; Power Automate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Record an Office Script for a repetitive modeling step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Power Automate to trigger the script automatically on a schedule or event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Show how automation removes manual touchpoints without sacrificing control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6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EquitySnapshotPlus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8197286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0431" y="329879"/>
            <a:ext cx="8906720" cy="7079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AI-assisted workflows with Agent Mode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2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Agent Mode to coordinate multi-step tasks across sheets, tables, and tools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2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Let the agent combine formulas, charts, and explanations into one workflow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2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Review and approve its output to ensure accuracy and maintain auditability</a:t>
            </a:r>
            <a:endParaRPr lang="en-US" sz="32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2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2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EquitySnapshotPlus</a:t>
            </a:r>
            <a:endParaRPr lang="en-US" sz="6000" dirty="0">
              <a:solidFill>
                <a:srgbClr val="CF3338"/>
              </a:solidFill>
              <a:latin typeface="Pragmatica" panose="020B04030405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6792217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4C72A-DF4F-3619-6A00-C42C9EFFE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653C19F5-31E1-B871-222A-EE176EB1CD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A4145DF-B19E-A76D-EA90-329D749FDD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0" y="533400"/>
            <a:ext cx="9220200" cy="922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155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28" t="56371"/>
          <a:stretch/>
        </p:blipFill>
        <p:spPr>
          <a:xfrm>
            <a:off x="12204691" y="3316148"/>
            <a:ext cx="6083309" cy="697085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07744" y="-3724155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Questions?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A06221-5316-4BCF-9FDA-BDB95FF4A7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204691" y="3317239"/>
            <a:ext cx="6083309" cy="696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8607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323C9-D5F7-C820-78B9-E169BDF23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971779-1F50-1702-DEC1-87CD482189F0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CC4C7B-C529-5329-03AC-796804551DC1}"/>
              </a:ext>
            </a:extLst>
          </p:cNvPr>
          <p:cNvSpPr txBox="1"/>
          <p:nvPr/>
        </p:nvSpPr>
        <p:spPr>
          <a:xfrm>
            <a:off x="781292" y="590309"/>
            <a:ext cx="15486926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900" b="1" dirty="0">
                <a:solidFill>
                  <a:schemeClr val="bg1"/>
                </a:solidFill>
                <a:latin typeface="Normafixed Tryout" panose="00000409000000000000" pitchFamily="49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6578290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2693</TotalTime>
  <Words>1298</Words>
  <Application>Microsoft Office PowerPoint</Application>
  <PresentationFormat>Custom</PresentationFormat>
  <Paragraphs>105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Consolas</vt:lpstr>
      <vt:lpstr>Pragmatica</vt:lpstr>
      <vt:lpstr>Normafixed Tryout</vt:lpstr>
      <vt:lpstr>Calibri</vt:lpstr>
      <vt:lpstr>Aliens &amp; cows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excel-statistics-for-business-analytics</dc:title>
  <dc:creator>User</dc:creator>
  <cp:lastModifiedBy>George Mount</cp:lastModifiedBy>
  <cp:revision>233</cp:revision>
  <dcterms:created xsi:type="dcterms:W3CDTF">2006-08-16T00:00:00Z</dcterms:created>
  <dcterms:modified xsi:type="dcterms:W3CDTF">2026-01-12T19:07:52Z</dcterms:modified>
  <dc:identifier>DADurESpNu8</dc:identifier>
</cp:coreProperties>
</file>