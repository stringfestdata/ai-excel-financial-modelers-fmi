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notesMasterIdLst>
    <p:notesMasterId r:id="rId15"/>
  </p:notesMasterIdLst>
  <p:sldIdLst>
    <p:sldId id="256" r:id="rId2"/>
    <p:sldId id="425" r:id="rId3"/>
    <p:sldId id="426" r:id="rId4"/>
    <p:sldId id="435" r:id="rId5"/>
    <p:sldId id="436" r:id="rId6"/>
    <p:sldId id="407" r:id="rId7"/>
    <p:sldId id="437" r:id="rId8"/>
    <p:sldId id="438" r:id="rId9"/>
    <p:sldId id="439" r:id="rId10"/>
    <p:sldId id="428" r:id="rId11"/>
    <p:sldId id="440" r:id="rId12"/>
    <p:sldId id="415" r:id="rId13"/>
    <p:sldId id="427" r:id="rId14"/>
  </p:sldIdLst>
  <p:sldSz cx="18288000" cy="10287000"/>
  <p:notesSz cx="6858000" cy="9144000"/>
  <p:embeddedFontLst>
    <p:embeddedFont>
      <p:font typeface="Consolas" panose="020B0609020204030204" pitchFamily="49" charset="0"/>
      <p:regular r:id="rId16"/>
      <p:bold r:id="rId17"/>
      <p:italic r:id="rId18"/>
      <p:boldItalic r:id="rId19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A7684158-E8C8-9BE0-21EB-718D906F94A5}" name="George Mount" initials="GM" userId="S::george@stringfestanalytics.com::22d0b802-afc6-4b8f-ba57-7a855d96927f" providerId="AD"/>
</p188:authorLst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George Mount" initials="GM" lastIdx="9" clrIdx="0">
    <p:extLst>
      <p:ext uri="{19B8F6BF-5375-455C-9EA6-DF929625EA0E}">
        <p15:presenceInfo xmlns:p15="http://schemas.microsoft.com/office/powerpoint/2012/main" userId="57d2ab2a84d54c81" providerId="Windows Liv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CF3338"/>
    <a:srgbClr val="3D3935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72833802-FEF1-4C79-8D5D-14CF1EAF98D9}" styleName="Light Style 2 - Accent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</a:tcStyle>
    </a:band1H>
    <a:band1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1V>
    <a:band2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2"/>
        </a:fillRef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9DCAF9ED-07DC-4A11-8D7F-57B35C25682E}" styleName="Medium Style 1 - Accent 2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2">
              <a:tint val="20000"/>
            </a:schemeClr>
          </a:solidFill>
        </a:fill>
      </a:tcStyle>
    </a:band1H>
    <a:band1V>
      <a:tcStyle>
        <a:tcBdr/>
        <a:fill>
          <a:solidFill>
            <a:schemeClr val="accent2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Row>
  </a:tblStyle>
  <a:tblStyle styleId="{8A107856-5554-42FB-B03E-39F5DBC370BA}" styleName="Medium Style 4 - Accent 2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 w="12700" cmpd="sng">
              <a:solidFill>
                <a:schemeClr val="accent2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2"/>
              </a:solidFill>
            </a:ln>
          </a:top>
        </a:tcBdr>
        <a:fill>
          <a:solidFill>
            <a:schemeClr val="accent2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2">
              <a:tint val="20000"/>
            </a:schemeClr>
          </a:solidFill>
        </a:fill>
      </a:tcStyle>
    </a:firstRow>
  </a:tblStyle>
  <a:tblStyle styleId="{93296810-A885-4BE3-A3E7-6D5BEEA58F35}" styleName="Medium Style 2 - Accent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7992" autoAdjust="0"/>
    <p:restoredTop sz="78463" autoAdjust="0"/>
  </p:normalViewPr>
  <p:slideViewPr>
    <p:cSldViewPr>
      <p:cViewPr varScale="1">
        <p:scale>
          <a:sx n="43" d="100"/>
          <a:sy n="43" d="100"/>
        </p:scale>
        <p:origin x="219" y="253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40" d="100"/>
        <a:sy n="14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font" Target="fonts/font3.fntdata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font" Target="fonts/font2.fntdata"/><Relationship Id="rId25" Type="http://schemas.microsoft.com/office/2018/10/relationships/authors" Target="authors.xml"/><Relationship Id="rId2" Type="http://schemas.openxmlformats.org/officeDocument/2006/relationships/slide" Target="slides/slide1.xml"/><Relationship Id="rId16" Type="http://schemas.openxmlformats.org/officeDocument/2006/relationships/font" Target="fonts/font1.fntdata"/><Relationship Id="rId20" Type="http://schemas.openxmlformats.org/officeDocument/2006/relationships/commentAuthors" Target="commentAuthor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font" Target="fonts/font4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7A98A70-FA8C-4354-959C-C70678AC9BCF}" type="datetimeFigureOut">
              <a:rPr lang="en-US" smtClean="0"/>
              <a:t>12/29/2025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FB500C5-13F7-48FC-8160-C29AECF6C60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183505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28600" indent="-228600">
              <a:buAutoNum type="arabicPeriod"/>
            </a:pPr>
            <a:r>
              <a:rPr lang="en-US" dirty="0"/>
              <a:t>False!</a:t>
            </a:r>
          </a:p>
          <a:p>
            <a:pPr marL="228600" indent="-228600">
              <a:buAutoNum type="arabicPeriod"/>
            </a:pPr>
            <a:r>
              <a:rPr lang="en-US" dirty="0"/>
              <a:t>Function, Formula, Function</a:t>
            </a:r>
          </a:p>
          <a:p>
            <a:pPr marL="228600" indent="-228600">
              <a:buAutoNum type="arabicPeriod"/>
            </a:pPr>
            <a:r>
              <a:rPr lang="en-US" dirty="0"/>
              <a:t>Argument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300335D-9F13-4B80-ADC5-B0EA3E10FF6B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2454924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FEDD0E-7B26-6A40-B99C-1DB1BA641B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BC93FE2-3717-2EDA-F56E-5665D5A85AB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C5CE75D-996B-9833-1013-EAD9BB8A2B2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28600" indent="-228600">
              <a:buAutoNum type="arabicPeriod"/>
            </a:pPr>
            <a:r>
              <a:rPr lang="en-US" dirty="0"/>
              <a:t>False!</a:t>
            </a:r>
          </a:p>
          <a:p>
            <a:pPr marL="228600" indent="-228600">
              <a:buAutoNum type="arabicPeriod"/>
            </a:pPr>
            <a:r>
              <a:rPr lang="en-US" dirty="0"/>
              <a:t>Function, Formula, Function</a:t>
            </a:r>
          </a:p>
          <a:p>
            <a:pPr marL="228600" indent="-228600">
              <a:buAutoNum type="arabicPeriod"/>
            </a:pPr>
            <a:r>
              <a:rPr lang="en-US" dirty="0"/>
              <a:t>Argument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368AF92-EF6C-FA8B-D809-38ED0AB72A8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300335D-9F13-4B80-ADC5-B0EA3E10FF6B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0744852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6E22B3-BAA4-0BAA-67B7-A455E33D5A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0DA8D85-8EDB-320E-B82E-3D3DF0C099E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8E96F83-412B-A26C-C37C-A10F2595FF7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28600" indent="-228600">
              <a:buAutoNum type="arabicPeriod"/>
            </a:pPr>
            <a:r>
              <a:rPr lang="en-US" dirty="0"/>
              <a:t>False!</a:t>
            </a:r>
          </a:p>
          <a:p>
            <a:pPr marL="228600" indent="-228600">
              <a:buAutoNum type="arabicPeriod"/>
            </a:pPr>
            <a:r>
              <a:rPr lang="en-US" dirty="0"/>
              <a:t>Function, Formula, Function</a:t>
            </a:r>
          </a:p>
          <a:p>
            <a:pPr marL="228600" indent="-228600">
              <a:buAutoNum type="arabicPeriod"/>
            </a:pPr>
            <a:r>
              <a:rPr lang="en-US" dirty="0"/>
              <a:t>Argument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85AA045-B911-BDFF-838C-B03FB3819AF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300335D-9F13-4B80-ADC5-B0EA3E10FF6B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7438750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F4B1F5-1022-4CE3-A7AD-748C293905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12021AD-DA3C-D2A8-6DCA-10B5C73F014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3398A40-4575-A2B2-0DDD-B74DA6A8134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28600" indent="-228600">
              <a:buAutoNum type="arabicPeriod"/>
            </a:pPr>
            <a:r>
              <a:rPr lang="en-US" dirty="0"/>
              <a:t>False!</a:t>
            </a:r>
          </a:p>
          <a:p>
            <a:pPr marL="228600" indent="-228600">
              <a:buAutoNum type="arabicPeriod"/>
            </a:pPr>
            <a:r>
              <a:rPr lang="en-US" dirty="0"/>
              <a:t>Function, Formula, Function</a:t>
            </a:r>
          </a:p>
          <a:p>
            <a:pPr marL="228600" indent="-228600">
              <a:buAutoNum type="arabicPeriod"/>
            </a:pPr>
            <a:r>
              <a:rPr lang="en-US" dirty="0"/>
              <a:t>Argument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E9951FB-F32F-3030-3950-0E80D0664D8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300335D-9F13-4B80-ADC5-B0EA3E10FF6B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1687947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28600" indent="-228600">
              <a:buAutoNum type="arabicPeriod"/>
            </a:pPr>
            <a:r>
              <a:rPr lang="en-US" dirty="0"/>
              <a:t>False!</a:t>
            </a:r>
          </a:p>
          <a:p>
            <a:pPr marL="228600" indent="-228600">
              <a:buAutoNum type="arabicPeriod"/>
            </a:pPr>
            <a:r>
              <a:rPr lang="en-US" dirty="0"/>
              <a:t>Function, Formula, Function</a:t>
            </a:r>
          </a:p>
          <a:p>
            <a:pPr marL="228600" indent="-228600">
              <a:buAutoNum type="arabicPeriod"/>
            </a:pPr>
            <a:r>
              <a:rPr lang="en-US" dirty="0"/>
              <a:t>Argument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300335D-9F13-4B80-ADC5-B0EA3E10FF6B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6432988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12/29/2025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12/29/2025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12/29/2025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12/29/2025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12/29/2025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12/29/2025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12/29/2025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12/29/2025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12/29/2025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12/29/2025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12/29/2025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12/29/2025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7" Type="http://schemas.openxmlformats.org/officeDocument/2006/relationships/image" Target="../media/image9.png"/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.png"/><Relationship Id="rId5" Type="http://schemas.openxmlformats.org/officeDocument/2006/relationships/image" Target="../media/image7.jpeg"/><Relationship Id="rId4" Type="http://schemas.openxmlformats.org/officeDocument/2006/relationships/image" Target="../media/image6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.png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3542796" y="4850092"/>
            <a:ext cx="4745204" cy="5435819"/>
          </a:xfrm>
          <a:prstGeom prst="rect">
            <a:avLst/>
          </a:prstGeom>
        </p:spPr>
      </p:pic>
      <p:pic>
        <p:nvPicPr>
          <p:cNvPr id="4" name="Picture 3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914400" y="-3440159"/>
            <a:ext cx="15257208" cy="11189825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86137" y="2531318"/>
            <a:ext cx="11979797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rgbClr val="CF3338"/>
                </a:solidFill>
                <a:latin typeface="Pragmatica" panose="020B0403040502020204" pitchFamily="34" charset="0"/>
              </a:rPr>
              <a:t>The New AI + Excel Modeling Stack: What Financial Modelers Need to Know</a:t>
            </a:r>
          </a:p>
        </p:txBody>
      </p:sp>
      <p:sp>
        <p:nvSpPr>
          <p:cNvPr id="2" name="AutoShape 2" descr="Home | Full Stack Modeller">
            <a:extLst>
              <a:ext uri="{FF2B5EF4-FFF2-40B4-BE49-F238E27FC236}">
                <a16:creationId xmlns:a16="http://schemas.microsoft.com/office/drawing/2014/main" id="{6CCAA77C-4E76-640C-066C-F3E39EE1AC92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8991600" y="49911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pic>
        <p:nvPicPr>
          <p:cNvPr id="3" name="Picture 2" descr="Financial Modeling Certification | Financial Modeling Institute">
            <a:extLst>
              <a:ext uri="{FF2B5EF4-FFF2-40B4-BE49-F238E27FC236}">
                <a16:creationId xmlns:a16="http://schemas.microsoft.com/office/drawing/2014/main" id="{72EA68FA-08B3-420A-F901-011898D55C2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1000" y="5295900"/>
            <a:ext cx="6118033" cy="45339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565911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CF333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700"/>
          </a:p>
        </p:txBody>
      </p:sp>
      <p:sp>
        <p:nvSpPr>
          <p:cNvPr id="5" name="TextBox 4"/>
          <p:cNvSpPr txBox="1"/>
          <p:nvPr/>
        </p:nvSpPr>
        <p:spPr>
          <a:xfrm>
            <a:off x="781292" y="590309"/>
            <a:ext cx="15486926" cy="161582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900" b="1" dirty="0">
                <a:solidFill>
                  <a:schemeClr val="bg1"/>
                </a:solidFill>
                <a:latin typeface="Normafixed Tryout" panose="00000409000000000000" pitchFamily="49" charset="0"/>
              </a:rPr>
              <a:t>About me</a:t>
            </a:r>
          </a:p>
        </p:txBody>
      </p:sp>
      <p:pic>
        <p:nvPicPr>
          <p:cNvPr id="3" name="Picture 4" descr="Advancing into Analytics Cover Image">
            <a:extLst>
              <a:ext uri="{FF2B5EF4-FFF2-40B4-BE49-F238E27FC236}">
                <a16:creationId xmlns:a16="http://schemas.microsoft.com/office/drawing/2014/main" id="{588F684B-18EF-D76C-5F7B-15E4BAD6064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638675" y="195638"/>
            <a:ext cx="3130385" cy="408866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Picture 6" descr="Free photos of Cleveland">
            <a:extLst>
              <a:ext uri="{FF2B5EF4-FFF2-40B4-BE49-F238E27FC236}">
                <a16:creationId xmlns:a16="http://schemas.microsoft.com/office/drawing/2014/main" id="{CBA53EEE-E3E1-D99E-A4DC-1C4DD2E6CE4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695692" y="2968810"/>
            <a:ext cx="5535359" cy="368447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" name="Picture 7" descr="Logo&#10;&#10;Description automatically generated">
            <a:extLst>
              <a:ext uri="{FF2B5EF4-FFF2-40B4-BE49-F238E27FC236}">
                <a16:creationId xmlns:a16="http://schemas.microsoft.com/office/drawing/2014/main" id="{97E0F267-87DF-961E-1FAA-47FD4F27A5C6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83691" y="6002696"/>
            <a:ext cx="7448309" cy="5462681"/>
          </a:xfrm>
          <a:prstGeom prst="rect">
            <a:avLst/>
          </a:prstGeom>
        </p:spPr>
      </p:pic>
      <p:pic>
        <p:nvPicPr>
          <p:cNvPr id="1026" name="Picture 2" descr="Modern data analytics in Excel book cover">
            <a:extLst>
              <a:ext uri="{FF2B5EF4-FFF2-40B4-BE49-F238E27FC236}">
                <a16:creationId xmlns:a16="http://schemas.microsoft.com/office/drawing/2014/main" id="{874ADA5E-A7A7-1D02-C728-513187DE1EF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498829" y="1736915"/>
            <a:ext cx="3437261" cy="450799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0" name="Picture 2" descr="Microsoft Most Valuable Professional - Wikipedia">
            <a:extLst>
              <a:ext uri="{FF2B5EF4-FFF2-40B4-BE49-F238E27FC236}">
                <a16:creationId xmlns:a16="http://schemas.microsoft.com/office/drawing/2014/main" id="{36C71929-5967-B93D-05FE-E330D621C59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84642" y="7832951"/>
            <a:ext cx="5057775" cy="20288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" name="Picture 1" descr="Global Excel Summit (9-11 February 2022) - Microsoft Excel Conference">
            <a:extLst>
              <a:ext uri="{FF2B5EF4-FFF2-40B4-BE49-F238E27FC236}">
                <a16:creationId xmlns:a16="http://schemas.microsoft.com/office/drawing/2014/main" id="{A4A37758-F92B-49D0-9144-77DE1A40AF22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4397664" y="4795613"/>
            <a:ext cx="2901909" cy="29019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7290117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Box 10"/>
          <p:cNvSpPr txBox="1"/>
          <p:nvPr/>
        </p:nvSpPr>
        <p:spPr>
          <a:xfrm>
            <a:off x="520861" y="170082"/>
            <a:ext cx="11979797" cy="28623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0" dirty="0">
                <a:latin typeface="Aliens &amp; cows" panose="00000500000000000000" pitchFamily="2" charset="0"/>
              </a:rPr>
              <a:t>Objectives for this session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20861" y="3191948"/>
            <a:ext cx="14393120" cy="33239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685800" indent="-685800">
              <a:buClr>
                <a:srgbClr val="CF3338"/>
              </a:buClr>
              <a:buFont typeface="Arial" panose="020B0604020202020204" pitchFamily="34" charset="0"/>
              <a:buChar char="•"/>
            </a:pPr>
            <a:r>
              <a:rPr lang="en-US" sz="4200" dirty="0">
                <a:solidFill>
                  <a:srgbClr val="707070"/>
                </a:solidFill>
                <a:latin typeface="Pragmatica" panose="020B0403040502020204" pitchFamily="34" charset="0"/>
              </a:rPr>
              <a:t>Clean and prep data the modern, reliable way</a:t>
            </a:r>
          </a:p>
          <a:p>
            <a:pPr marL="685800" indent="-685800">
              <a:buClr>
                <a:srgbClr val="CF3338"/>
              </a:buClr>
              <a:buFont typeface="Arial" panose="020B0604020202020204" pitchFamily="34" charset="0"/>
              <a:buChar char="•"/>
            </a:pPr>
            <a:r>
              <a:rPr lang="en-US" sz="4200" dirty="0">
                <a:solidFill>
                  <a:srgbClr val="707070"/>
                </a:solidFill>
                <a:latin typeface="Pragmatica" panose="020B0403040502020204" pitchFamily="34" charset="0"/>
              </a:rPr>
              <a:t>Run forecasting and simulations in Python in Excel</a:t>
            </a:r>
          </a:p>
          <a:p>
            <a:pPr marL="685800" indent="-685800">
              <a:buClr>
                <a:srgbClr val="CF3338"/>
              </a:buClr>
              <a:buFont typeface="Arial" panose="020B0604020202020204" pitchFamily="34" charset="0"/>
              <a:buChar char="•"/>
            </a:pPr>
            <a:r>
              <a:rPr lang="en-US" sz="4200" dirty="0">
                <a:solidFill>
                  <a:srgbClr val="707070"/>
                </a:solidFill>
                <a:latin typeface="Pragmatica" panose="020B0403040502020204" pitchFamily="34" charset="0"/>
              </a:rPr>
              <a:t>Use Copilot for fast, defensible analysis</a:t>
            </a:r>
          </a:p>
          <a:p>
            <a:pPr marL="685800" indent="-685800">
              <a:buClr>
                <a:srgbClr val="CF3338"/>
              </a:buClr>
              <a:buFont typeface="Arial" panose="020B0604020202020204" pitchFamily="34" charset="0"/>
              <a:buChar char="•"/>
            </a:pPr>
            <a:r>
              <a:rPr lang="en-US" sz="4200" dirty="0">
                <a:solidFill>
                  <a:srgbClr val="707070"/>
                </a:solidFill>
                <a:latin typeface="Pragmatica" panose="020B0403040502020204" pitchFamily="34" charset="0"/>
              </a:rPr>
              <a:t>Understand where Scripts, Automate, and Agents actually fit</a:t>
            </a:r>
          </a:p>
          <a:p>
            <a:pPr marL="685800" indent="-685800">
              <a:buClr>
                <a:srgbClr val="CF3338"/>
              </a:buClr>
              <a:buFont typeface="Arial" panose="020B0604020202020204" pitchFamily="34" charset="0"/>
              <a:buChar char="•"/>
            </a:pPr>
            <a:r>
              <a:rPr lang="en-US" sz="4200" dirty="0">
                <a:solidFill>
                  <a:srgbClr val="707070"/>
                </a:solidFill>
                <a:latin typeface="Pragmatica" panose="020B0403040502020204" pitchFamily="34" charset="0"/>
              </a:rPr>
              <a:t>Build a practical modeling workflow you can use tomorrow</a:t>
            </a:r>
          </a:p>
        </p:txBody>
      </p:sp>
      <p:pic>
        <p:nvPicPr>
          <p:cNvPr id="15" name="Picture 14" descr="A close up of a sign&#10;&#10;Description automatically generated">
            <a:extLst>
              <a:ext uri="{FF2B5EF4-FFF2-40B4-BE49-F238E27FC236}">
                <a16:creationId xmlns:a16="http://schemas.microsoft.com/office/drawing/2014/main" id="{29761B90-A7DE-4A60-A915-F085BD87CAB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341036" y="8058429"/>
            <a:ext cx="1942857" cy="22285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8707638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12A2F7-CEB0-4209-DC3D-F249E9777F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Box 10">
            <a:extLst>
              <a:ext uri="{FF2B5EF4-FFF2-40B4-BE49-F238E27FC236}">
                <a16:creationId xmlns:a16="http://schemas.microsoft.com/office/drawing/2014/main" id="{DAB21DD4-1E71-0731-A2B8-76CDA8683D46}"/>
              </a:ext>
            </a:extLst>
          </p:cNvPr>
          <p:cNvSpPr txBox="1"/>
          <p:nvPr/>
        </p:nvSpPr>
        <p:spPr>
          <a:xfrm>
            <a:off x="520861" y="170082"/>
            <a:ext cx="11979797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0" dirty="0">
                <a:latin typeface="Aliens &amp; cows" panose="00000500000000000000" pitchFamily="2" charset="0"/>
              </a:rPr>
              <a:t>The AI sweet spot</a:t>
            </a:r>
          </a:p>
        </p:txBody>
      </p:sp>
      <p:pic>
        <p:nvPicPr>
          <p:cNvPr id="15" name="Picture 14" descr="A close up of a sign&#10;&#10;Description automatically generated">
            <a:extLst>
              <a:ext uri="{FF2B5EF4-FFF2-40B4-BE49-F238E27FC236}">
                <a16:creationId xmlns:a16="http://schemas.microsoft.com/office/drawing/2014/main" id="{367A43BF-28D5-E587-7263-F5E78BC8BD3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341036" y="8058429"/>
            <a:ext cx="1942857" cy="2228571"/>
          </a:xfrm>
          <a:prstGeom prst="rect">
            <a:avLst/>
          </a:prstGeom>
        </p:spPr>
      </p:pic>
      <p:sp>
        <p:nvSpPr>
          <p:cNvPr id="2" name="Arrow: Left-Right 1">
            <a:extLst>
              <a:ext uri="{FF2B5EF4-FFF2-40B4-BE49-F238E27FC236}">
                <a16:creationId xmlns:a16="http://schemas.microsoft.com/office/drawing/2014/main" id="{B25DAC54-5829-C2EE-04C9-18CD81CE9096}"/>
              </a:ext>
            </a:extLst>
          </p:cNvPr>
          <p:cNvSpPr/>
          <p:nvPr/>
        </p:nvSpPr>
        <p:spPr>
          <a:xfrm>
            <a:off x="1143000" y="3695700"/>
            <a:ext cx="15392400" cy="3733800"/>
          </a:xfrm>
          <a:prstGeom prst="leftRightArrow">
            <a:avLst/>
          </a:prstGeom>
          <a:solidFill>
            <a:srgbClr val="CF3338"/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3AF9E5D4-9FF2-2C0F-5B3F-7B2E307FA5D0}"/>
              </a:ext>
            </a:extLst>
          </p:cNvPr>
          <p:cNvSpPr/>
          <p:nvPr/>
        </p:nvSpPr>
        <p:spPr>
          <a:xfrm>
            <a:off x="6629400" y="4648200"/>
            <a:ext cx="3962400" cy="1828800"/>
          </a:xfrm>
          <a:prstGeom prst="rect">
            <a:avLst/>
          </a:prstGeom>
          <a:solidFill>
            <a:schemeClr val="bg1">
              <a:lumMod val="65000"/>
            </a:schemeClr>
          </a:solidFill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4000" dirty="0"/>
              <a:t>AI is just another tool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DAC6237-2E9E-5783-FD0D-BC4939235463}"/>
              </a:ext>
            </a:extLst>
          </p:cNvPr>
          <p:cNvSpPr txBox="1"/>
          <p:nvPr/>
        </p:nvSpPr>
        <p:spPr>
          <a:xfrm>
            <a:off x="2667000" y="4991100"/>
            <a:ext cx="3657600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400" dirty="0">
                <a:solidFill>
                  <a:schemeClr val="bg1"/>
                </a:solidFill>
              </a:rPr>
              <a:t>AI is useless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B16B48F-B4DE-EC2C-3E01-3DAE4467291D}"/>
              </a:ext>
            </a:extLst>
          </p:cNvPr>
          <p:cNvSpPr txBox="1"/>
          <p:nvPr/>
        </p:nvSpPr>
        <p:spPr>
          <a:xfrm>
            <a:off x="11125200" y="4839325"/>
            <a:ext cx="3657600" cy="14465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400" dirty="0">
                <a:solidFill>
                  <a:schemeClr val="bg1"/>
                </a:solidFill>
              </a:rPr>
              <a:t>AI will take my job</a:t>
            </a:r>
          </a:p>
        </p:txBody>
      </p:sp>
    </p:spTree>
    <p:extLst>
      <p:ext uri="{BB962C8B-B14F-4D97-AF65-F5344CB8AC3E}">
        <p14:creationId xmlns:p14="http://schemas.microsoft.com/office/powerpoint/2010/main" val="352342890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8DDAFB-C39F-E1F1-239C-CC130F0E9F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 descr="A close up of a sign&#10;&#10;Description automatically generated">
            <a:extLst>
              <a:ext uri="{FF2B5EF4-FFF2-40B4-BE49-F238E27FC236}">
                <a16:creationId xmlns:a16="http://schemas.microsoft.com/office/drawing/2014/main" id="{3F99B048-238E-884E-F9CC-BE10034697B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341036" y="8058429"/>
            <a:ext cx="1942857" cy="2228571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B83C5240-267F-C074-4137-482F2BB3C23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76800" y="533400"/>
            <a:ext cx="9220200" cy="9220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7495109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9861630" y="0"/>
            <a:ext cx="8426370" cy="10287000"/>
          </a:xfrm>
          <a:prstGeom prst="rect">
            <a:avLst/>
          </a:prstGeom>
          <a:solidFill>
            <a:srgbClr val="CF333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700"/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9227" t="33418" r="20112" b="50548"/>
          <a:stretch/>
        </p:blipFill>
        <p:spPr>
          <a:xfrm>
            <a:off x="15579524" y="7544693"/>
            <a:ext cx="2708477" cy="2987579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60431" y="329879"/>
            <a:ext cx="8906720" cy="707584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6000" b="1" dirty="0">
                <a:solidFill>
                  <a:srgbClr val="CF3338"/>
                </a:solidFill>
                <a:latin typeface="Pragmatica" panose="020B0403040502020204" pitchFamily="34" charset="0"/>
              </a:rPr>
              <a:t>Auditable data cleaning with Power Query</a:t>
            </a:r>
          </a:p>
          <a:p>
            <a:endParaRPr lang="en-US" sz="4200" dirty="0">
              <a:solidFill>
                <a:srgbClr val="CF3338"/>
              </a:solidFill>
              <a:latin typeface="Pragmatica" panose="020B0403040502020204" pitchFamily="34" charset="0"/>
            </a:endParaRPr>
          </a:p>
          <a:p>
            <a:pPr marL="685800" indent="-542925">
              <a:lnSpc>
                <a:spcPct val="115000"/>
              </a:lnSpc>
              <a:spcBef>
                <a:spcPts val="1125"/>
              </a:spcBef>
              <a:buClr>
                <a:srgbClr val="C00000"/>
              </a:buClr>
              <a:buSzPts val="2100"/>
              <a:buFont typeface="Arial"/>
              <a:buAutoNum type="arabicPeriod"/>
            </a:pPr>
            <a:r>
              <a:rPr lang="en-US" sz="3600" dirty="0">
                <a:solidFill>
                  <a:srgbClr val="C00000"/>
                </a:solidFill>
                <a:latin typeface="Pragmatica" panose="020B0403040502020204"/>
                <a:sym typeface="Consolas"/>
              </a:rPr>
              <a:t>Use Copilot to profile for dirty data</a:t>
            </a:r>
          </a:p>
          <a:p>
            <a:pPr marL="685800" indent="-542925">
              <a:lnSpc>
                <a:spcPct val="115000"/>
              </a:lnSpc>
              <a:spcBef>
                <a:spcPts val="1125"/>
              </a:spcBef>
              <a:buClr>
                <a:srgbClr val="C00000"/>
              </a:buClr>
              <a:buSzPts val="2100"/>
              <a:buFont typeface="Arial"/>
              <a:buAutoNum type="arabicPeriod"/>
            </a:pPr>
            <a:r>
              <a:rPr lang="en-US" sz="3600" dirty="0">
                <a:solidFill>
                  <a:srgbClr val="C00000"/>
                </a:solidFill>
                <a:latin typeface="Pragmatica" panose="020B0403040502020204"/>
                <a:sym typeface="Consolas"/>
              </a:rPr>
              <a:t>Build the reproducible pipeline with Power Query</a:t>
            </a:r>
          </a:p>
          <a:p>
            <a:pPr marL="685800" indent="-542925">
              <a:lnSpc>
                <a:spcPct val="115000"/>
              </a:lnSpc>
              <a:spcBef>
                <a:spcPts val="1125"/>
              </a:spcBef>
              <a:buClr>
                <a:srgbClr val="C00000"/>
              </a:buClr>
              <a:buSzPts val="2100"/>
              <a:buFont typeface="Arial"/>
              <a:buAutoNum type="arabicPeriod"/>
            </a:pPr>
            <a:r>
              <a:rPr lang="en-US" sz="3600" dirty="0">
                <a:solidFill>
                  <a:srgbClr val="C00000"/>
                </a:solidFill>
                <a:latin typeface="Pragmatica" panose="020B0403040502020204"/>
                <a:sym typeface="Consolas"/>
              </a:rPr>
              <a:t>Improve the documentation with Copilot</a:t>
            </a:r>
            <a:endParaRPr lang="en-US" sz="3600" dirty="0">
              <a:solidFill>
                <a:srgbClr val="C00000"/>
              </a:solidFill>
              <a:latin typeface="Consolas" panose="020B0609020204030204" pitchFamily="49" charset="0"/>
              <a:sym typeface="Consolas"/>
            </a:endParaRPr>
          </a:p>
          <a:p>
            <a:pPr marL="685800" indent="-542925">
              <a:lnSpc>
                <a:spcPct val="115000"/>
              </a:lnSpc>
              <a:spcBef>
                <a:spcPts val="1125"/>
              </a:spcBef>
              <a:buClr>
                <a:srgbClr val="C00000"/>
              </a:buClr>
              <a:buSzPts val="2100"/>
              <a:buFont typeface="Arial"/>
              <a:buAutoNum type="arabicPeriod"/>
            </a:pPr>
            <a:endParaRPr lang="en-US" sz="3600" dirty="0">
              <a:solidFill>
                <a:srgbClr val="C00000"/>
              </a:solidFill>
              <a:latin typeface="Consolas" panose="020B0609020204030204" pitchFamily="49" charset="0"/>
              <a:sym typeface="Consolas"/>
            </a:endParaRPr>
          </a:p>
          <a:p>
            <a:pPr marL="142875">
              <a:lnSpc>
                <a:spcPct val="115000"/>
              </a:lnSpc>
              <a:spcBef>
                <a:spcPts val="1125"/>
              </a:spcBef>
              <a:buClr>
                <a:srgbClr val="C00000"/>
              </a:buClr>
              <a:buSzPts val="2100"/>
            </a:pPr>
            <a:r>
              <a:rPr lang="en-US" sz="3600" dirty="0">
                <a:solidFill>
                  <a:srgbClr val="C00000"/>
                </a:solidFill>
                <a:latin typeface="Pragmatica" panose="020B0403040502020204"/>
                <a:sym typeface="Consolas"/>
              </a:rPr>
              <a:t>Worksheet: </a:t>
            </a:r>
            <a:r>
              <a:rPr lang="en-US" sz="3600" dirty="0" err="1">
                <a:solidFill>
                  <a:srgbClr val="C00000"/>
                </a:solidFill>
                <a:latin typeface="Consolas" panose="020B0609020204030204" pitchFamily="49" charset="0"/>
                <a:sym typeface="Consolas"/>
              </a:rPr>
              <a:t>EquitySnapshot</a:t>
            </a:r>
            <a:endParaRPr lang="en-US" sz="3600" dirty="0">
              <a:solidFill>
                <a:srgbClr val="C00000"/>
              </a:solidFill>
              <a:latin typeface="Consolas" panose="020B0609020204030204" pitchFamily="49" charset="0"/>
              <a:sym typeface="Consolas"/>
            </a:endParaRPr>
          </a:p>
        </p:txBody>
      </p:sp>
    </p:spTree>
    <p:extLst>
      <p:ext uri="{BB962C8B-B14F-4D97-AF65-F5344CB8AC3E}">
        <p14:creationId xmlns:p14="http://schemas.microsoft.com/office/powerpoint/2010/main" val="387153177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04CBBF-8FFC-E22C-8007-C2C9DD5548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8F9677D3-44B2-5B66-71B7-B1543A9DF4D8}"/>
              </a:ext>
            </a:extLst>
          </p:cNvPr>
          <p:cNvSpPr/>
          <p:nvPr/>
        </p:nvSpPr>
        <p:spPr>
          <a:xfrm>
            <a:off x="9861630" y="0"/>
            <a:ext cx="8426370" cy="10287000"/>
          </a:xfrm>
          <a:prstGeom prst="rect">
            <a:avLst/>
          </a:prstGeom>
          <a:solidFill>
            <a:srgbClr val="CF333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700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2731ED99-003F-9B63-0C97-20993D0F4B5B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9227" t="33418" r="20112" b="50548"/>
          <a:stretch/>
        </p:blipFill>
        <p:spPr>
          <a:xfrm>
            <a:off x="15579524" y="7544693"/>
            <a:ext cx="2708477" cy="2987579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0405B7C2-2826-D66C-4521-5694092DDB43}"/>
              </a:ext>
            </a:extLst>
          </p:cNvPr>
          <p:cNvSpPr txBox="1"/>
          <p:nvPr/>
        </p:nvSpPr>
        <p:spPr>
          <a:xfrm>
            <a:off x="260431" y="329879"/>
            <a:ext cx="8906720" cy="629698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6000" b="1" dirty="0">
                <a:solidFill>
                  <a:srgbClr val="CF3338"/>
                </a:solidFill>
                <a:latin typeface="Pragmatica" panose="020B0403040502020204" pitchFamily="34" charset="0"/>
              </a:rPr>
              <a:t>Monte Carlo simulation with Copilot + Python</a:t>
            </a:r>
          </a:p>
          <a:p>
            <a:endParaRPr lang="en-US" sz="4200" dirty="0">
              <a:solidFill>
                <a:srgbClr val="CF3338"/>
              </a:solidFill>
              <a:latin typeface="Pragmatica" panose="020B0403040502020204" pitchFamily="34" charset="0"/>
            </a:endParaRPr>
          </a:p>
          <a:p>
            <a:pPr marL="685800" indent="-542925">
              <a:lnSpc>
                <a:spcPct val="115000"/>
              </a:lnSpc>
              <a:spcBef>
                <a:spcPts val="1125"/>
              </a:spcBef>
              <a:buClr>
                <a:srgbClr val="C00000"/>
              </a:buClr>
              <a:buSzPts val="2100"/>
              <a:buFont typeface="Arial"/>
              <a:buAutoNum type="arabicPeriod"/>
            </a:pPr>
            <a:r>
              <a:rPr lang="en-US" sz="3600" dirty="0">
                <a:solidFill>
                  <a:srgbClr val="C00000"/>
                </a:solidFill>
                <a:latin typeface="Pragmatica" panose="020B0403040502020204"/>
                <a:sym typeface="Consolas"/>
              </a:rPr>
              <a:t>Specify parameters via natural language</a:t>
            </a:r>
          </a:p>
          <a:p>
            <a:pPr marL="685800" indent="-542925">
              <a:lnSpc>
                <a:spcPct val="115000"/>
              </a:lnSpc>
              <a:spcBef>
                <a:spcPts val="1125"/>
              </a:spcBef>
              <a:buClr>
                <a:srgbClr val="C00000"/>
              </a:buClr>
              <a:buSzPts val="2100"/>
              <a:buFont typeface="Arial"/>
              <a:buAutoNum type="arabicPeriod"/>
            </a:pPr>
            <a:r>
              <a:rPr lang="en-US" sz="3600" dirty="0">
                <a:solidFill>
                  <a:srgbClr val="C00000"/>
                </a:solidFill>
                <a:latin typeface="Pragmatica" panose="020B0403040502020204"/>
                <a:sym typeface="Consolas"/>
              </a:rPr>
              <a:t>Build the reproducible simulation with Python</a:t>
            </a:r>
          </a:p>
          <a:p>
            <a:pPr marL="685800" indent="-542925">
              <a:lnSpc>
                <a:spcPct val="115000"/>
              </a:lnSpc>
              <a:spcBef>
                <a:spcPts val="1125"/>
              </a:spcBef>
              <a:buClr>
                <a:srgbClr val="C00000"/>
              </a:buClr>
              <a:buSzPts val="2100"/>
              <a:buFont typeface="Arial"/>
              <a:buAutoNum type="arabicPeriod"/>
            </a:pPr>
            <a:endParaRPr lang="en-US" sz="3600" dirty="0">
              <a:solidFill>
                <a:srgbClr val="C00000"/>
              </a:solidFill>
              <a:latin typeface="Consolas" panose="020B0609020204030204" pitchFamily="49" charset="0"/>
              <a:sym typeface="Consolas"/>
            </a:endParaRPr>
          </a:p>
          <a:p>
            <a:pPr marL="142875">
              <a:lnSpc>
                <a:spcPct val="115000"/>
              </a:lnSpc>
              <a:spcBef>
                <a:spcPts val="1125"/>
              </a:spcBef>
              <a:buClr>
                <a:srgbClr val="C00000"/>
              </a:buClr>
              <a:buSzPts val="2100"/>
            </a:pPr>
            <a:r>
              <a:rPr lang="en-US" sz="3600" dirty="0">
                <a:solidFill>
                  <a:srgbClr val="C00000"/>
                </a:solidFill>
                <a:latin typeface="Pragmatica" panose="020B0403040502020204"/>
                <a:sym typeface="Consolas"/>
              </a:rPr>
              <a:t>Worksheet: </a:t>
            </a:r>
            <a:r>
              <a:rPr lang="en-US" sz="3600" dirty="0" err="1">
                <a:solidFill>
                  <a:srgbClr val="C00000"/>
                </a:solidFill>
                <a:latin typeface="Consolas" panose="020B0609020204030204" pitchFamily="49" charset="0"/>
                <a:sym typeface="Consolas"/>
              </a:rPr>
              <a:t>EquitySnapshotClean</a:t>
            </a:r>
            <a:endParaRPr lang="en-US" sz="3600" dirty="0">
              <a:solidFill>
                <a:srgbClr val="C00000"/>
              </a:solidFill>
              <a:latin typeface="Consolas" panose="020B0609020204030204" pitchFamily="49" charset="0"/>
              <a:sym typeface="Consolas"/>
            </a:endParaRPr>
          </a:p>
        </p:txBody>
      </p:sp>
    </p:spTree>
    <p:extLst>
      <p:ext uri="{BB962C8B-B14F-4D97-AF65-F5344CB8AC3E}">
        <p14:creationId xmlns:p14="http://schemas.microsoft.com/office/powerpoint/2010/main" val="341735221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A7F86A-C9A1-36F7-63F4-518236B2C0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9FA93C5A-E306-615A-6570-3BDCB204E0E4}"/>
              </a:ext>
            </a:extLst>
          </p:cNvPr>
          <p:cNvSpPr/>
          <p:nvPr/>
        </p:nvSpPr>
        <p:spPr>
          <a:xfrm>
            <a:off x="9861630" y="0"/>
            <a:ext cx="8426370" cy="10287000"/>
          </a:xfrm>
          <a:prstGeom prst="rect">
            <a:avLst/>
          </a:prstGeom>
          <a:solidFill>
            <a:srgbClr val="CF333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700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D0563824-D714-5588-FCB3-54A382D2BC17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9227" t="33418" r="20112" b="50548"/>
          <a:stretch/>
        </p:blipFill>
        <p:spPr>
          <a:xfrm>
            <a:off x="15579524" y="7544693"/>
            <a:ext cx="2708477" cy="2987579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E0301B72-4635-023D-51BD-0B9F1FEDF896}"/>
              </a:ext>
            </a:extLst>
          </p:cNvPr>
          <p:cNvSpPr txBox="1"/>
          <p:nvPr/>
        </p:nvSpPr>
        <p:spPr>
          <a:xfrm>
            <a:off x="260431" y="329879"/>
            <a:ext cx="8906720" cy="75711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6000" b="1" dirty="0">
                <a:solidFill>
                  <a:srgbClr val="CF3338"/>
                </a:solidFill>
                <a:latin typeface="Pragmatica" panose="020B0403040502020204" pitchFamily="34" charset="0"/>
              </a:rPr>
              <a:t>Agentic reasoning &amp; analysis </a:t>
            </a:r>
            <a:r>
              <a:rPr lang="en-US" sz="6000" b="1">
                <a:solidFill>
                  <a:srgbClr val="CF3338"/>
                </a:solidFill>
                <a:latin typeface="Pragmatica" panose="020B0403040502020204" pitchFamily="34" charset="0"/>
              </a:rPr>
              <a:t>with Analyst Agent</a:t>
            </a:r>
            <a:endParaRPr lang="en-US" sz="6000" b="1" dirty="0">
              <a:solidFill>
                <a:srgbClr val="CF3338"/>
              </a:solidFill>
              <a:latin typeface="Pragmatica" panose="020B0403040502020204" pitchFamily="34" charset="0"/>
            </a:endParaRPr>
          </a:p>
          <a:p>
            <a:endParaRPr lang="en-US" sz="4200" dirty="0">
              <a:solidFill>
                <a:srgbClr val="CF3338"/>
              </a:solidFill>
              <a:latin typeface="Pragmatica" panose="020B0403040502020204" pitchFamily="34" charset="0"/>
            </a:endParaRPr>
          </a:p>
          <a:p>
            <a:pPr marL="685800" indent="-542925">
              <a:lnSpc>
                <a:spcPct val="115000"/>
              </a:lnSpc>
              <a:spcBef>
                <a:spcPts val="1125"/>
              </a:spcBef>
              <a:buClr>
                <a:srgbClr val="C00000"/>
              </a:buClr>
              <a:buSzPts val="2100"/>
              <a:buFont typeface="Arial"/>
              <a:buAutoNum type="arabicPeriod"/>
            </a:pPr>
            <a:r>
              <a:rPr lang="en-US" sz="3600" dirty="0">
                <a:solidFill>
                  <a:srgbClr val="C00000"/>
                </a:solidFill>
                <a:latin typeface="Pragmatica" panose="020B0403040502020204"/>
                <a:sym typeface="Consolas"/>
              </a:rPr>
              <a:t>Ask Agent Analyst to diagnose valuation patterns, outliers, and sector differences</a:t>
            </a:r>
          </a:p>
          <a:p>
            <a:pPr marL="685800" indent="-542925">
              <a:lnSpc>
                <a:spcPct val="115000"/>
              </a:lnSpc>
              <a:spcBef>
                <a:spcPts val="1125"/>
              </a:spcBef>
              <a:buClr>
                <a:srgbClr val="C00000"/>
              </a:buClr>
              <a:buSzPts val="2100"/>
              <a:buFont typeface="Arial"/>
              <a:buAutoNum type="arabicPeriod"/>
            </a:pPr>
            <a:r>
              <a:rPr lang="en-US" sz="3600" dirty="0">
                <a:solidFill>
                  <a:srgbClr val="C00000"/>
                </a:solidFill>
                <a:latin typeface="Pragmatica" panose="020B0403040502020204"/>
                <a:sym typeface="Consolas"/>
              </a:rPr>
              <a:t>Let the agent walk through its reasoning and show intermediate steps</a:t>
            </a:r>
          </a:p>
          <a:p>
            <a:pPr marL="685800" indent="-542925">
              <a:lnSpc>
                <a:spcPct val="115000"/>
              </a:lnSpc>
              <a:spcBef>
                <a:spcPts val="1125"/>
              </a:spcBef>
              <a:buClr>
                <a:srgbClr val="C00000"/>
              </a:buClr>
              <a:buSzPts val="2100"/>
              <a:buFont typeface="Arial"/>
              <a:buAutoNum type="arabicPeriod"/>
            </a:pPr>
            <a:r>
              <a:rPr lang="en-US" sz="3600" dirty="0">
                <a:solidFill>
                  <a:srgbClr val="C00000"/>
                </a:solidFill>
                <a:latin typeface="Pragmatica" panose="020B0403040502020204"/>
                <a:sym typeface="Consolas"/>
              </a:rPr>
              <a:t>Use its findings to draft a concise, defensible executive summary</a:t>
            </a:r>
            <a:endParaRPr lang="en-US" sz="3600" dirty="0">
              <a:solidFill>
                <a:srgbClr val="C00000"/>
              </a:solidFill>
              <a:latin typeface="Consolas" panose="020B0609020204030204" pitchFamily="49" charset="0"/>
              <a:sym typeface="Consolas"/>
            </a:endParaRPr>
          </a:p>
          <a:p>
            <a:pPr marL="142875">
              <a:lnSpc>
                <a:spcPct val="115000"/>
              </a:lnSpc>
              <a:spcBef>
                <a:spcPts val="1125"/>
              </a:spcBef>
              <a:buClr>
                <a:srgbClr val="C00000"/>
              </a:buClr>
              <a:buSzPts val="2100"/>
            </a:pPr>
            <a:r>
              <a:rPr lang="en-US" sz="3600" dirty="0">
                <a:solidFill>
                  <a:srgbClr val="C00000"/>
                </a:solidFill>
                <a:latin typeface="Pragmatica" panose="020B0403040502020204"/>
                <a:sym typeface="Consolas"/>
              </a:rPr>
              <a:t>Worksheet: </a:t>
            </a:r>
            <a:r>
              <a:rPr lang="en-US" sz="3600" dirty="0" err="1">
                <a:solidFill>
                  <a:srgbClr val="C00000"/>
                </a:solidFill>
                <a:latin typeface="Consolas" panose="020B0609020204030204" pitchFamily="49" charset="0"/>
                <a:sym typeface="Consolas"/>
              </a:rPr>
              <a:t>EquitySnapshotPlus</a:t>
            </a:r>
            <a:endParaRPr lang="en-US" sz="3600" dirty="0">
              <a:solidFill>
                <a:srgbClr val="C00000"/>
              </a:solidFill>
              <a:latin typeface="Consolas" panose="020B0609020204030204" pitchFamily="49" charset="0"/>
              <a:sym typeface="Consolas"/>
            </a:endParaRPr>
          </a:p>
        </p:txBody>
      </p:sp>
    </p:spTree>
    <p:extLst>
      <p:ext uri="{BB962C8B-B14F-4D97-AF65-F5344CB8AC3E}">
        <p14:creationId xmlns:p14="http://schemas.microsoft.com/office/powerpoint/2010/main" val="12699204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6CB882-454A-EA2E-95D8-6252869019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66D9137F-AB84-4A7D-C46D-CD5ECFE5D7F4}"/>
              </a:ext>
            </a:extLst>
          </p:cNvPr>
          <p:cNvSpPr/>
          <p:nvPr/>
        </p:nvSpPr>
        <p:spPr>
          <a:xfrm>
            <a:off x="9861630" y="0"/>
            <a:ext cx="8426370" cy="10287000"/>
          </a:xfrm>
          <a:prstGeom prst="rect">
            <a:avLst/>
          </a:prstGeom>
          <a:solidFill>
            <a:srgbClr val="CF333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700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765DE7AF-05B2-1DE1-C36A-524D3F1CCC27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9227" t="33418" r="20112" b="50548"/>
          <a:stretch/>
        </p:blipFill>
        <p:spPr>
          <a:xfrm>
            <a:off x="15579524" y="7544693"/>
            <a:ext cx="2708477" cy="2987579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4D6D2621-E985-98E9-6041-1E91616B5A2A}"/>
              </a:ext>
            </a:extLst>
          </p:cNvPr>
          <p:cNvSpPr txBox="1"/>
          <p:nvPr/>
        </p:nvSpPr>
        <p:spPr>
          <a:xfrm>
            <a:off x="260431" y="329879"/>
            <a:ext cx="8906720" cy="849450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6000" b="1" dirty="0">
                <a:solidFill>
                  <a:srgbClr val="CF3338"/>
                </a:solidFill>
                <a:latin typeface="Pragmatica" panose="020B0403040502020204" pitchFamily="34" charset="0"/>
              </a:rPr>
              <a:t>Automated workflows with Office Scripts &amp; Power Automate</a:t>
            </a:r>
          </a:p>
          <a:p>
            <a:endParaRPr lang="en-US" sz="4200" dirty="0">
              <a:solidFill>
                <a:srgbClr val="CF3338"/>
              </a:solidFill>
              <a:latin typeface="Pragmatica" panose="020B0403040502020204" pitchFamily="34" charset="0"/>
            </a:endParaRPr>
          </a:p>
          <a:p>
            <a:pPr marL="685800" indent="-542925">
              <a:lnSpc>
                <a:spcPct val="115000"/>
              </a:lnSpc>
              <a:spcBef>
                <a:spcPts val="1125"/>
              </a:spcBef>
              <a:buClr>
                <a:srgbClr val="C00000"/>
              </a:buClr>
              <a:buSzPts val="2100"/>
              <a:buFont typeface="Arial"/>
              <a:buAutoNum type="arabicPeriod"/>
            </a:pPr>
            <a:r>
              <a:rPr lang="en-US" sz="3600" dirty="0">
                <a:solidFill>
                  <a:srgbClr val="C00000"/>
                </a:solidFill>
                <a:latin typeface="Pragmatica" panose="020B0403040502020204"/>
                <a:sym typeface="Consolas"/>
              </a:rPr>
              <a:t>Record an Office Script for a repetitive modeling step</a:t>
            </a:r>
          </a:p>
          <a:p>
            <a:pPr marL="685800" indent="-542925">
              <a:lnSpc>
                <a:spcPct val="115000"/>
              </a:lnSpc>
              <a:spcBef>
                <a:spcPts val="1125"/>
              </a:spcBef>
              <a:buClr>
                <a:srgbClr val="C00000"/>
              </a:buClr>
              <a:buSzPts val="2100"/>
              <a:buFont typeface="Arial"/>
              <a:buAutoNum type="arabicPeriod"/>
            </a:pPr>
            <a:r>
              <a:rPr lang="en-US" sz="3600" dirty="0">
                <a:solidFill>
                  <a:srgbClr val="C00000"/>
                </a:solidFill>
                <a:latin typeface="Pragmatica" panose="020B0403040502020204"/>
                <a:sym typeface="Consolas"/>
              </a:rPr>
              <a:t>Use Power Automate to trigger the script automatically on a schedule or event</a:t>
            </a:r>
          </a:p>
          <a:p>
            <a:pPr marL="685800" indent="-542925">
              <a:lnSpc>
                <a:spcPct val="115000"/>
              </a:lnSpc>
              <a:spcBef>
                <a:spcPts val="1125"/>
              </a:spcBef>
              <a:buClr>
                <a:srgbClr val="C00000"/>
              </a:buClr>
              <a:buSzPts val="2100"/>
              <a:buFont typeface="Arial"/>
              <a:buAutoNum type="arabicPeriod"/>
            </a:pPr>
            <a:r>
              <a:rPr lang="en-US" sz="3600" dirty="0">
                <a:solidFill>
                  <a:srgbClr val="C00000"/>
                </a:solidFill>
                <a:latin typeface="Pragmatica" panose="020B0403040502020204"/>
                <a:sym typeface="Consolas"/>
              </a:rPr>
              <a:t>Show how automation removes manual touchpoints without sacrificing control</a:t>
            </a:r>
            <a:endParaRPr lang="en-US" sz="3600" dirty="0">
              <a:solidFill>
                <a:srgbClr val="C00000"/>
              </a:solidFill>
              <a:latin typeface="Consolas" panose="020B0609020204030204" pitchFamily="49" charset="0"/>
              <a:sym typeface="Consolas"/>
            </a:endParaRPr>
          </a:p>
          <a:p>
            <a:pPr marL="142875">
              <a:lnSpc>
                <a:spcPct val="115000"/>
              </a:lnSpc>
              <a:spcBef>
                <a:spcPts val="1125"/>
              </a:spcBef>
              <a:buClr>
                <a:srgbClr val="C00000"/>
              </a:buClr>
              <a:buSzPts val="2100"/>
            </a:pPr>
            <a:r>
              <a:rPr lang="en-US" sz="3600" dirty="0">
                <a:solidFill>
                  <a:srgbClr val="C00000"/>
                </a:solidFill>
                <a:latin typeface="Pragmatica" panose="020B0403040502020204"/>
                <a:sym typeface="Consolas"/>
              </a:rPr>
              <a:t>Worksheet: </a:t>
            </a:r>
            <a:r>
              <a:rPr lang="en-US" sz="3600" dirty="0" err="1">
                <a:solidFill>
                  <a:srgbClr val="C00000"/>
                </a:solidFill>
                <a:latin typeface="Consolas" panose="020B0609020204030204" pitchFamily="49" charset="0"/>
                <a:sym typeface="Consolas"/>
              </a:rPr>
              <a:t>EquitySnapshotPlus</a:t>
            </a:r>
            <a:endParaRPr lang="en-US" sz="3600" dirty="0">
              <a:solidFill>
                <a:srgbClr val="C00000"/>
              </a:solidFill>
              <a:latin typeface="Consolas" panose="020B0609020204030204" pitchFamily="49" charset="0"/>
              <a:sym typeface="Consolas"/>
            </a:endParaRPr>
          </a:p>
        </p:txBody>
      </p:sp>
    </p:spTree>
    <p:extLst>
      <p:ext uri="{BB962C8B-B14F-4D97-AF65-F5344CB8AC3E}">
        <p14:creationId xmlns:p14="http://schemas.microsoft.com/office/powerpoint/2010/main" val="181972865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9861630" y="0"/>
            <a:ext cx="8426370" cy="10287000"/>
          </a:xfrm>
          <a:prstGeom prst="rect">
            <a:avLst/>
          </a:prstGeom>
          <a:solidFill>
            <a:srgbClr val="CF333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700"/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9227" t="33418" r="20112" b="50548"/>
          <a:stretch/>
        </p:blipFill>
        <p:spPr>
          <a:xfrm>
            <a:off x="15579524" y="7544693"/>
            <a:ext cx="2708477" cy="2987579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60431" y="329879"/>
            <a:ext cx="8906720" cy="7079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6000" b="1" dirty="0">
                <a:solidFill>
                  <a:srgbClr val="CF3338"/>
                </a:solidFill>
                <a:latin typeface="Pragmatica" panose="020B0403040502020204" pitchFamily="34" charset="0"/>
              </a:rPr>
              <a:t>AI-assisted workflows with Agent Mode</a:t>
            </a:r>
          </a:p>
          <a:p>
            <a:endParaRPr lang="en-US" sz="4200" dirty="0">
              <a:solidFill>
                <a:srgbClr val="CF3338"/>
              </a:solidFill>
              <a:latin typeface="Pragmatica" panose="020B0403040502020204" pitchFamily="34" charset="0"/>
            </a:endParaRPr>
          </a:p>
          <a:p>
            <a:pPr marL="685800" indent="-542925">
              <a:lnSpc>
                <a:spcPct val="115000"/>
              </a:lnSpc>
              <a:spcBef>
                <a:spcPts val="1125"/>
              </a:spcBef>
              <a:buClr>
                <a:srgbClr val="C00000"/>
              </a:buClr>
              <a:buSzPts val="2100"/>
              <a:buFont typeface="Arial"/>
              <a:buAutoNum type="arabicPeriod"/>
            </a:pPr>
            <a:r>
              <a:rPr lang="en-US" sz="3200" dirty="0">
                <a:solidFill>
                  <a:srgbClr val="C00000"/>
                </a:solidFill>
                <a:latin typeface="Pragmatica" panose="020B0403040502020204"/>
                <a:sym typeface="Consolas"/>
              </a:rPr>
              <a:t>Use Agent Mode to coordinate multi-step tasks across sheets, tables, and tools</a:t>
            </a:r>
          </a:p>
          <a:p>
            <a:pPr marL="685800" indent="-542925">
              <a:lnSpc>
                <a:spcPct val="115000"/>
              </a:lnSpc>
              <a:spcBef>
                <a:spcPts val="1125"/>
              </a:spcBef>
              <a:buClr>
                <a:srgbClr val="C00000"/>
              </a:buClr>
              <a:buSzPts val="2100"/>
              <a:buFont typeface="Arial"/>
              <a:buAutoNum type="arabicPeriod"/>
            </a:pPr>
            <a:r>
              <a:rPr lang="en-US" sz="3200" dirty="0">
                <a:solidFill>
                  <a:srgbClr val="C00000"/>
                </a:solidFill>
                <a:latin typeface="Pragmatica" panose="020B0403040502020204"/>
                <a:sym typeface="Consolas"/>
              </a:rPr>
              <a:t>Let the agent combine formulas, charts, and explanations into one workflow</a:t>
            </a:r>
          </a:p>
          <a:p>
            <a:pPr marL="685800" indent="-542925">
              <a:lnSpc>
                <a:spcPct val="115000"/>
              </a:lnSpc>
              <a:spcBef>
                <a:spcPts val="1125"/>
              </a:spcBef>
              <a:buClr>
                <a:srgbClr val="C00000"/>
              </a:buClr>
              <a:buSzPts val="2100"/>
              <a:buFont typeface="Arial"/>
              <a:buAutoNum type="arabicPeriod"/>
            </a:pPr>
            <a:r>
              <a:rPr lang="en-US" sz="3200" dirty="0">
                <a:solidFill>
                  <a:srgbClr val="C00000"/>
                </a:solidFill>
                <a:latin typeface="Pragmatica" panose="020B0403040502020204"/>
                <a:sym typeface="Consolas"/>
              </a:rPr>
              <a:t>Review and approve its output to ensure accuracy and maintain auditability</a:t>
            </a:r>
            <a:endParaRPr lang="en-US" sz="3200" dirty="0">
              <a:solidFill>
                <a:srgbClr val="C00000"/>
              </a:solidFill>
              <a:latin typeface="Consolas" panose="020B0609020204030204" pitchFamily="49" charset="0"/>
              <a:sym typeface="Consolas"/>
            </a:endParaRPr>
          </a:p>
          <a:p>
            <a:pPr marL="142875">
              <a:lnSpc>
                <a:spcPct val="115000"/>
              </a:lnSpc>
              <a:spcBef>
                <a:spcPts val="1125"/>
              </a:spcBef>
              <a:buClr>
                <a:srgbClr val="C00000"/>
              </a:buClr>
              <a:buSzPts val="2100"/>
            </a:pPr>
            <a:r>
              <a:rPr lang="en-US" sz="3200" dirty="0">
                <a:solidFill>
                  <a:srgbClr val="C00000"/>
                </a:solidFill>
                <a:latin typeface="Pragmatica" panose="020B0403040502020204"/>
                <a:sym typeface="Consolas"/>
              </a:rPr>
              <a:t>Worksheet: </a:t>
            </a:r>
            <a:r>
              <a:rPr lang="en-US" sz="3200" dirty="0" err="1">
                <a:solidFill>
                  <a:srgbClr val="C00000"/>
                </a:solidFill>
                <a:latin typeface="Consolas" panose="020B0609020204030204" pitchFamily="49" charset="0"/>
                <a:sym typeface="Consolas"/>
              </a:rPr>
              <a:t>EquitySnapshotPlus</a:t>
            </a:r>
            <a:endParaRPr lang="en-US" sz="6000" dirty="0">
              <a:solidFill>
                <a:srgbClr val="CF3338"/>
              </a:solidFill>
              <a:latin typeface="Pragmatica" panose="020B0403040502020204"/>
            </a:endParaRPr>
          </a:p>
        </p:txBody>
      </p:sp>
    </p:spTree>
    <p:extLst>
      <p:ext uri="{BB962C8B-B14F-4D97-AF65-F5344CB8AC3E}">
        <p14:creationId xmlns:p14="http://schemas.microsoft.com/office/powerpoint/2010/main" val="167922171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44C72A-DF4F-3619-6A00-C42C9EFFE4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 descr="A close up of a sign&#10;&#10;Description automatically generated">
            <a:extLst>
              <a:ext uri="{FF2B5EF4-FFF2-40B4-BE49-F238E27FC236}">
                <a16:creationId xmlns:a16="http://schemas.microsoft.com/office/drawing/2014/main" id="{653C19F5-31E1-B871-222A-EE176EB1CD6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341036" y="8058429"/>
            <a:ext cx="1942857" cy="2228571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AA4145DF-B19E-A76D-EA90-329D749FDD4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76800" y="533400"/>
            <a:ext cx="9220200" cy="9220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8715586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0728" t="56371"/>
          <a:stretch/>
        </p:blipFill>
        <p:spPr>
          <a:xfrm>
            <a:off x="12204691" y="3316148"/>
            <a:ext cx="6083309" cy="6970854"/>
          </a:xfrm>
          <a:prstGeom prst="rect">
            <a:avLst/>
          </a:prstGeom>
        </p:spPr>
      </p:pic>
      <p:pic>
        <p:nvPicPr>
          <p:cNvPr id="4" name="Picture 3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807744" y="-3724155"/>
            <a:ext cx="15257208" cy="11189825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86137" y="2531318"/>
            <a:ext cx="11979797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rgbClr val="CF3338"/>
                </a:solidFill>
                <a:latin typeface="Pragmatica" panose="020B0403040502020204" pitchFamily="34" charset="0"/>
              </a:rPr>
              <a:t>Questions?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4A06221-5316-4BCF-9FDA-BDB95FF4A778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2204691" y="3317239"/>
            <a:ext cx="6083309" cy="69686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8986073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5323C9-D5F7-C820-78B9-E169BDF231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28971779-1F50-1702-DEC1-87CD482189F0}"/>
              </a:ext>
            </a:extLst>
          </p:cNvPr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CF333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70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ECC4C7B-C529-5329-03AC-796804551DC1}"/>
              </a:ext>
            </a:extLst>
          </p:cNvPr>
          <p:cNvSpPr txBox="1"/>
          <p:nvPr/>
        </p:nvSpPr>
        <p:spPr>
          <a:xfrm>
            <a:off x="781292" y="590309"/>
            <a:ext cx="15486926" cy="161582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900" b="1" dirty="0">
                <a:solidFill>
                  <a:schemeClr val="bg1"/>
                </a:solidFill>
                <a:latin typeface="Normafixed Tryout" panose="00000409000000000000" pitchFamily="49" charset="0"/>
              </a:rPr>
              <a:t>Thank you</a:t>
            </a:r>
          </a:p>
        </p:txBody>
      </p:sp>
    </p:spTree>
    <p:extLst>
      <p:ext uri="{BB962C8B-B14F-4D97-AF65-F5344CB8AC3E}">
        <p14:creationId xmlns:p14="http://schemas.microsoft.com/office/powerpoint/2010/main" val="65782906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2674</TotalTime>
  <Words>311</Words>
  <Application>Microsoft Office PowerPoint</Application>
  <PresentationFormat>Custom</PresentationFormat>
  <Paragraphs>65</Paragraphs>
  <Slides>13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20" baseType="lpstr">
      <vt:lpstr>Arial</vt:lpstr>
      <vt:lpstr>Aliens &amp; cows</vt:lpstr>
      <vt:lpstr>Pragmatica</vt:lpstr>
      <vt:lpstr>Calibri</vt:lpstr>
      <vt:lpstr>Normafixed Tryout</vt:lpstr>
      <vt:lpstr>Consolas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excel-statistics-for-business-analytics</dc:title>
  <dc:creator>User</dc:creator>
  <cp:lastModifiedBy>George Mount</cp:lastModifiedBy>
  <cp:revision>230</cp:revision>
  <dcterms:created xsi:type="dcterms:W3CDTF">2006-08-16T00:00:00Z</dcterms:created>
  <dcterms:modified xsi:type="dcterms:W3CDTF">2025-12-29T21:10:39Z</dcterms:modified>
  <dc:identifier>DADurESpNu8</dc:identifier>
</cp:coreProperties>
</file>